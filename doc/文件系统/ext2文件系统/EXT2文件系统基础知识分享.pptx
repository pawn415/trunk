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50" r:id="rId1"/>
    <p:sldMasterId id="2147484106" r:id="rId2"/>
  </p:sldMasterIdLst>
  <p:notesMasterIdLst>
    <p:notesMasterId r:id="rId30"/>
  </p:notesMasterIdLst>
  <p:handoutMasterIdLst>
    <p:handoutMasterId r:id="rId31"/>
  </p:handoutMasterIdLst>
  <p:sldIdLst>
    <p:sldId id="349" r:id="rId3"/>
    <p:sldId id="356" r:id="rId4"/>
    <p:sldId id="582" r:id="rId5"/>
    <p:sldId id="567" r:id="rId6"/>
    <p:sldId id="583" r:id="rId7"/>
    <p:sldId id="584" r:id="rId8"/>
    <p:sldId id="581" r:id="rId9"/>
    <p:sldId id="586" r:id="rId10"/>
    <p:sldId id="588" r:id="rId11"/>
    <p:sldId id="600" r:id="rId12"/>
    <p:sldId id="587" r:id="rId13"/>
    <p:sldId id="589" r:id="rId14"/>
    <p:sldId id="601" r:id="rId15"/>
    <p:sldId id="590" r:id="rId16"/>
    <p:sldId id="598" r:id="rId17"/>
    <p:sldId id="602" r:id="rId18"/>
    <p:sldId id="591" r:id="rId19"/>
    <p:sldId id="592" r:id="rId20"/>
    <p:sldId id="604" r:id="rId21"/>
    <p:sldId id="603" r:id="rId22"/>
    <p:sldId id="593" r:id="rId23"/>
    <p:sldId id="595" r:id="rId24"/>
    <p:sldId id="594" r:id="rId25"/>
    <p:sldId id="597" r:id="rId26"/>
    <p:sldId id="596" r:id="rId27"/>
    <p:sldId id="605" r:id="rId28"/>
    <p:sldId id="556" r:id="rId29"/>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刚15" initials="赵刚15" lastIdx="1" clrIdx="0">
    <p:extLst>
      <p:ext uri="{19B8F6BF-5375-455C-9EA6-DF929625EA0E}">
        <p15:presenceInfo xmlns:p15="http://schemas.microsoft.com/office/powerpoint/2012/main" userId="S-1-5-21-301378855-1296857468-2813838616-55069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C410"/>
    <a:srgbClr val="FAC5A7"/>
    <a:srgbClr val="92D050"/>
    <a:srgbClr val="9C9CDF"/>
    <a:srgbClr val="ECD3A6"/>
    <a:srgbClr val="FAFEFF"/>
    <a:srgbClr val="F2F2F2"/>
    <a:srgbClr val="F2FBF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74" autoAdjust="0"/>
    <p:restoredTop sz="81119" autoAdjust="0"/>
  </p:normalViewPr>
  <p:slideViewPr>
    <p:cSldViewPr>
      <p:cViewPr varScale="1">
        <p:scale>
          <a:sx n="82" d="100"/>
          <a:sy n="82" d="100"/>
        </p:scale>
        <p:origin x="1110" y="96"/>
      </p:cViewPr>
      <p:guideLst>
        <p:guide orient="horz" pos="2160"/>
        <p:guide pos="3840"/>
      </p:guideLst>
    </p:cSldViewPr>
  </p:slideViewPr>
  <p:outlineViewPr>
    <p:cViewPr>
      <p:scale>
        <a:sx n="75" d="100"/>
        <a:sy n="7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267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63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163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63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5195B5D4-9BB6-4DE2-A3A6-F8D099A2B7AE}" type="slidenum">
              <a:rPr lang="en-US" altLang="zh-CN"/>
              <a:pPr>
                <a:defRPr/>
              </a:pPr>
              <a:t>‹#›</a:t>
            </a:fld>
            <a:endParaRPr lang="en-US" altLang="zh-CN"/>
          </a:p>
        </p:txBody>
      </p:sp>
    </p:spTree>
    <p:extLst>
      <p:ext uri="{BB962C8B-B14F-4D97-AF65-F5344CB8AC3E}">
        <p14:creationId xmlns:p14="http://schemas.microsoft.com/office/powerpoint/2010/main" val="28077672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38326BC7-0DDE-49EE-9786-BDCDA25CA6C5}" type="slidenum">
              <a:rPr lang="en-US" altLang="zh-CN"/>
              <a:pPr>
                <a:defRPr/>
              </a:pPr>
              <a:t>‹#›</a:t>
            </a:fld>
            <a:endParaRPr lang="en-US" altLang="zh-CN"/>
          </a:p>
        </p:txBody>
      </p:sp>
    </p:spTree>
    <p:extLst>
      <p:ext uri="{BB962C8B-B14F-4D97-AF65-F5344CB8AC3E}">
        <p14:creationId xmlns:p14="http://schemas.microsoft.com/office/powerpoint/2010/main" val="31880101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itchFamily="34" charset="0"/>
                <a:ea typeface="宋体" pitchFamily="2" charset="-122"/>
              </a:defRPr>
            </a:lvl1pPr>
            <a:lvl2pPr marL="742950" indent="-285750" eaLnBrk="0" hangingPunct="0">
              <a:spcBef>
                <a:spcPct val="30000"/>
              </a:spcBef>
              <a:defRPr sz="1200">
                <a:solidFill>
                  <a:schemeClr val="tx1"/>
                </a:solidFill>
                <a:latin typeface="Arial" pitchFamily="34" charset="0"/>
                <a:ea typeface="宋体" pitchFamily="2" charset="-122"/>
              </a:defRPr>
            </a:lvl2pPr>
            <a:lvl3pPr marL="1143000" indent="-228600" eaLnBrk="0" hangingPunct="0">
              <a:spcBef>
                <a:spcPct val="30000"/>
              </a:spcBef>
              <a:defRPr sz="1200">
                <a:solidFill>
                  <a:schemeClr val="tx1"/>
                </a:solidFill>
                <a:latin typeface="Arial" pitchFamily="34" charset="0"/>
                <a:ea typeface="宋体" pitchFamily="2" charset="-122"/>
              </a:defRPr>
            </a:lvl3pPr>
            <a:lvl4pPr marL="1600200" indent="-228600" eaLnBrk="0" hangingPunct="0">
              <a:spcBef>
                <a:spcPct val="30000"/>
              </a:spcBef>
              <a:defRPr sz="1200">
                <a:solidFill>
                  <a:schemeClr val="tx1"/>
                </a:solidFill>
                <a:latin typeface="Arial" pitchFamily="34" charset="0"/>
                <a:ea typeface="宋体" pitchFamily="2" charset="-122"/>
              </a:defRPr>
            </a:lvl4pPr>
            <a:lvl5pPr marL="2057400" indent="-228600" eaLnBrk="0" hangingPunct="0">
              <a:spcBef>
                <a:spcPct val="30000"/>
              </a:spcBef>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pPr eaLnBrk="1" hangingPunct="1">
              <a:spcBef>
                <a:spcPct val="0"/>
              </a:spcBef>
            </a:pPr>
            <a:fld id="{3F3AA6E0-7D80-4C7B-B482-15F29032ECCE}" type="slidenum">
              <a:rPr lang="en-US" altLang="zh-CN">
                <a:solidFill>
                  <a:prstClr val="black"/>
                </a:solidFill>
              </a:rPr>
              <a:pPr eaLnBrk="1" hangingPunct="1">
                <a:spcBef>
                  <a:spcPct val="0"/>
                </a:spcBef>
              </a:pPr>
              <a:t>1</a:t>
            </a:fld>
            <a:endParaRPr lang="en-US" altLang="zh-CN">
              <a:solidFill>
                <a:prstClr val="black"/>
              </a:solidFill>
            </a:endParaRPr>
          </a:p>
        </p:txBody>
      </p:sp>
      <p:sp>
        <p:nvSpPr>
          <p:cNvPr id="31747" name="Rectangle 2"/>
          <p:cNvSpPr>
            <a:spLocks noGrp="1" noRot="1" noChangeAspect="1" noChangeArrowheads="1" noTextEdit="1"/>
          </p:cNvSpPr>
          <p:nvPr>
            <p:ph type="sldImg"/>
          </p:nvPr>
        </p:nvSpPr>
        <p:spPr>
          <a:xfrm>
            <a:off x="381000" y="685800"/>
            <a:ext cx="6096000" cy="3429000"/>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2</a:t>
            </a:fld>
            <a:endParaRPr lang="en-US" altLang="zh-CN"/>
          </a:p>
        </p:txBody>
      </p:sp>
    </p:spTree>
    <p:extLst>
      <p:ext uri="{BB962C8B-B14F-4D97-AF65-F5344CB8AC3E}">
        <p14:creationId xmlns:p14="http://schemas.microsoft.com/office/powerpoint/2010/main" val="3743090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3</a:t>
            </a:fld>
            <a:endParaRPr lang="en-US" altLang="zh-CN"/>
          </a:p>
        </p:txBody>
      </p:sp>
    </p:spTree>
    <p:extLst>
      <p:ext uri="{BB962C8B-B14F-4D97-AF65-F5344CB8AC3E}">
        <p14:creationId xmlns:p14="http://schemas.microsoft.com/office/powerpoint/2010/main" val="3092518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4</a:t>
            </a:fld>
            <a:endParaRPr lang="en-US" altLang="zh-CN"/>
          </a:p>
        </p:txBody>
      </p:sp>
    </p:spTree>
    <p:extLst>
      <p:ext uri="{BB962C8B-B14F-4D97-AF65-F5344CB8AC3E}">
        <p14:creationId xmlns:p14="http://schemas.microsoft.com/office/powerpoint/2010/main" val="1172464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5</a:t>
            </a:fld>
            <a:endParaRPr lang="en-US" altLang="zh-CN"/>
          </a:p>
        </p:txBody>
      </p:sp>
    </p:spTree>
    <p:extLst>
      <p:ext uri="{BB962C8B-B14F-4D97-AF65-F5344CB8AC3E}">
        <p14:creationId xmlns:p14="http://schemas.microsoft.com/office/powerpoint/2010/main" val="4148222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6</a:t>
            </a:fld>
            <a:endParaRPr lang="en-US" altLang="zh-CN"/>
          </a:p>
        </p:txBody>
      </p:sp>
    </p:spTree>
    <p:extLst>
      <p:ext uri="{BB962C8B-B14F-4D97-AF65-F5344CB8AC3E}">
        <p14:creationId xmlns:p14="http://schemas.microsoft.com/office/powerpoint/2010/main" val="2101487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7</a:t>
            </a:fld>
            <a:endParaRPr lang="en-US" altLang="zh-CN"/>
          </a:p>
        </p:txBody>
      </p:sp>
    </p:spTree>
    <p:extLst>
      <p:ext uri="{BB962C8B-B14F-4D97-AF65-F5344CB8AC3E}">
        <p14:creationId xmlns:p14="http://schemas.microsoft.com/office/powerpoint/2010/main" val="1600055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8</a:t>
            </a:fld>
            <a:endParaRPr lang="en-US" altLang="zh-CN"/>
          </a:p>
        </p:txBody>
      </p:sp>
    </p:spTree>
    <p:extLst>
      <p:ext uri="{BB962C8B-B14F-4D97-AF65-F5344CB8AC3E}">
        <p14:creationId xmlns:p14="http://schemas.microsoft.com/office/powerpoint/2010/main" val="889630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9</a:t>
            </a:fld>
            <a:endParaRPr lang="en-US" altLang="zh-CN"/>
          </a:p>
        </p:txBody>
      </p:sp>
    </p:spTree>
    <p:extLst>
      <p:ext uri="{BB962C8B-B14F-4D97-AF65-F5344CB8AC3E}">
        <p14:creationId xmlns:p14="http://schemas.microsoft.com/office/powerpoint/2010/main" val="578683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10</a:t>
            </a:fld>
            <a:endParaRPr lang="en-US" altLang="zh-CN"/>
          </a:p>
        </p:txBody>
      </p:sp>
    </p:spTree>
    <p:extLst>
      <p:ext uri="{BB962C8B-B14F-4D97-AF65-F5344CB8AC3E}">
        <p14:creationId xmlns:p14="http://schemas.microsoft.com/office/powerpoint/2010/main" val="748661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11</a:t>
            </a:fld>
            <a:endParaRPr lang="en-US" altLang="zh-CN"/>
          </a:p>
        </p:txBody>
      </p:sp>
    </p:spTree>
    <p:extLst>
      <p:ext uri="{BB962C8B-B14F-4D97-AF65-F5344CB8AC3E}">
        <p14:creationId xmlns:p14="http://schemas.microsoft.com/office/powerpoint/2010/main" val="1651250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12</a:t>
            </a:fld>
            <a:endParaRPr lang="en-US" altLang="zh-CN"/>
          </a:p>
        </p:txBody>
      </p:sp>
    </p:spTree>
    <p:extLst>
      <p:ext uri="{BB962C8B-B14F-4D97-AF65-F5344CB8AC3E}">
        <p14:creationId xmlns:p14="http://schemas.microsoft.com/office/powerpoint/2010/main" val="789667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13</a:t>
            </a:fld>
            <a:endParaRPr lang="en-US" altLang="zh-CN"/>
          </a:p>
        </p:txBody>
      </p:sp>
    </p:spTree>
    <p:extLst>
      <p:ext uri="{BB962C8B-B14F-4D97-AF65-F5344CB8AC3E}">
        <p14:creationId xmlns:p14="http://schemas.microsoft.com/office/powerpoint/2010/main" val="2110550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14</a:t>
            </a:fld>
            <a:endParaRPr lang="en-US" altLang="zh-CN"/>
          </a:p>
        </p:txBody>
      </p:sp>
    </p:spTree>
    <p:extLst>
      <p:ext uri="{BB962C8B-B14F-4D97-AF65-F5344CB8AC3E}">
        <p14:creationId xmlns:p14="http://schemas.microsoft.com/office/powerpoint/2010/main" val="1997384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15</a:t>
            </a:fld>
            <a:endParaRPr lang="en-US" altLang="zh-CN"/>
          </a:p>
        </p:txBody>
      </p:sp>
    </p:spTree>
    <p:extLst>
      <p:ext uri="{BB962C8B-B14F-4D97-AF65-F5344CB8AC3E}">
        <p14:creationId xmlns:p14="http://schemas.microsoft.com/office/powerpoint/2010/main" val="453264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16</a:t>
            </a:fld>
            <a:endParaRPr lang="en-US" altLang="zh-CN"/>
          </a:p>
        </p:txBody>
      </p:sp>
    </p:spTree>
    <p:extLst>
      <p:ext uri="{BB962C8B-B14F-4D97-AF65-F5344CB8AC3E}">
        <p14:creationId xmlns:p14="http://schemas.microsoft.com/office/powerpoint/2010/main" val="1939859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17</a:t>
            </a:fld>
            <a:endParaRPr lang="en-US" altLang="zh-CN"/>
          </a:p>
        </p:txBody>
      </p:sp>
    </p:spTree>
    <p:extLst>
      <p:ext uri="{BB962C8B-B14F-4D97-AF65-F5344CB8AC3E}">
        <p14:creationId xmlns:p14="http://schemas.microsoft.com/office/powerpoint/2010/main" val="3726314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18</a:t>
            </a:fld>
            <a:endParaRPr lang="en-US" altLang="zh-CN"/>
          </a:p>
        </p:txBody>
      </p:sp>
    </p:spTree>
    <p:extLst>
      <p:ext uri="{BB962C8B-B14F-4D97-AF65-F5344CB8AC3E}">
        <p14:creationId xmlns:p14="http://schemas.microsoft.com/office/powerpoint/2010/main" val="252011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19</a:t>
            </a:fld>
            <a:endParaRPr lang="en-US" altLang="zh-CN"/>
          </a:p>
        </p:txBody>
      </p:sp>
    </p:spTree>
    <p:extLst>
      <p:ext uri="{BB962C8B-B14F-4D97-AF65-F5344CB8AC3E}">
        <p14:creationId xmlns:p14="http://schemas.microsoft.com/office/powerpoint/2010/main" val="1556759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20</a:t>
            </a:fld>
            <a:endParaRPr lang="en-US" altLang="zh-CN"/>
          </a:p>
        </p:txBody>
      </p:sp>
    </p:spTree>
    <p:extLst>
      <p:ext uri="{BB962C8B-B14F-4D97-AF65-F5344CB8AC3E}">
        <p14:creationId xmlns:p14="http://schemas.microsoft.com/office/powerpoint/2010/main" val="28742180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21</a:t>
            </a:fld>
            <a:endParaRPr lang="en-US" altLang="zh-CN"/>
          </a:p>
        </p:txBody>
      </p:sp>
    </p:spTree>
    <p:extLst>
      <p:ext uri="{BB962C8B-B14F-4D97-AF65-F5344CB8AC3E}">
        <p14:creationId xmlns:p14="http://schemas.microsoft.com/office/powerpoint/2010/main" val="11021065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22</a:t>
            </a:fld>
            <a:endParaRPr lang="en-US" altLang="zh-CN"/>
          </a:p>
        </p:txBody>
      </p:sp>
    </p:spTree>
    <p:extLst>
      <p:ext uri="{BB962C8B-B14F-4D97-AF65-F5344CB8AC3E}">
        <p14:creationId xmlns:p14="http://schemas.microsoft.com/office/powerpoint/2010/main" val="2811709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23</a:t>
            </a:fld>
            <a:endParaRPr lang="en-US" altLang="zh-CN"/>
          </a:p>
        </p:txBody>
      </p:sp>
    </p:spTree>
    <p:extLst>
      <p:ext uri="{BB962C8B-B14F-4D97-AF65-F5344CB8AC3E}">
        <p14:creationId xmlns:p14="http://schemas.microsoft.com/office/powerpoint/2010/main" val="30718935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24</a:t>
            </a:fld>
            <a:endParaRPr lang="en-US" altLang="zh-CN"/>
          </a:p>
        </p:txBody>
      </p:sp>
    </p:spTree>
    <p:extLst>
      <p:ext uri="{BB962C8B-B14F-4D97-AF65-F5344CB8AC3E}">
        <p14:creationId xmlns:p14="http://schemas.microsoft.com/office/powerpoint/2010/main" val="236045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25</a:t>
            </a:fld>
            <a:endParaRPr lang="en-US" altLang="zh-CN"/>
          </a:p>
        </p:txBody>
      </p:sp>
    </p:spTree>
    <p:extLst>
      <p:ext uri="{BB962C8B-B14F-4D97-AF65-F5344CB8AC3E}">
        <p14:creationId xmlns:p14="http://schemas.microsoft.com/office/powerpoint/2010/main" val="19204195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38326BC7-0DDE-49EE-9786-BDCDA25CA6C5}" type="slidenum">
              <a:rPr lang="en-US" altLang="zh-CN" smtClean="0"/>
              <a:pPr>
                <a:defRPr/>
              </a:pPr>
              <a:t>26</a:t>
            </a:fld>
            <a:endParaRPr lang="en-US" altLang="zh-CN"/>
          </a:p>
        </p:txBody>
      </p:sp>
    </p:spTree>
    <p:extLst>
      <p:ext uri="{BB962C8B-B14F-4D97-AF65-F5344CB8AC3E}">
        <p14:creationId xmlns:p14="http://schemas.microsoft.com/office/powerpoint/2010/main" val="26535080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DE753A-0177-4C28-84F8-F15E35E0A3BC}" type="slidenum">
              <a:rPr lang="zh-CN" altLang="en-US" smtClean="0"/>
              <a:t>27</a:t>
            </a:fld>
            <a:endParaRPr lang="zh-CN" altLang="en-US"/>
          </a:p>
        </p:txBody>
      </p:sp>
    </p:spTree>
    <p:extLst>
      <p:ext uri="{BB962C8B-B14F-4D97-AF65-F5344CB8AC3E}">
        <p14:creationId xmlns:p14="http://schemas.microsoft.com/office/powerpoint/2010/main" val="24301850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5" descr="C:\Documents and Settings\DingQi\桌面\封面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5183717" y="981076"/>
            <a:ext cx="52324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6" name="Text Box 6"/>
          <p:cNvSpPr txBox="1">
            <a:spLocks noChangeArrowheads="1"/>
          </p:cNvSpPr>
          <p:nvPr userDrawn="1"/>
        </p:nvSpPr>
        <p:spPr bwMode="auto">
          <a:xfrm>
            <a:off x="431801" y="6237288"/>
            <a:ext cx="1488017" cy="304800"/>
          </a:xfrm>
          <a:prstGeom prst="rect">
            <a:avLst/>
          </a:prstGeom>
          <a:noFill/>
          <a:ln>
            <a:noFill/>
          </a:ln>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r>
              <a:rPr lang="en-US" altLang="zh-CN" sz="1400" smtClean="0">
                <a:solidFill>
                  <a:schemeClr val="bg2"/>
                </a:solidFill>
                <a:latin typeface="Verdana" pitchFamily="34" charset="0"/>
              </a:rPr>
              <a:t>2011.11</a:t>
            </a:r>
          </a:p>
        </p:txBody>
      </p:sp>
      <p:sp>
        <p:nvSpPr>
          <p:cNvPr id="11267" name="Rectangle 3"/>
          <p:cNvSpPr>
            <a:spLocks noGrp="1" noChangeArrowheads="1"/>
          </p:cNvSpPr>
          <p:nvPr>
            <p:ph type="ctrTitle"/>
          </p:nvPr>
        </p:nvSpPr>
        <p:spPr>
          <a:xfrm>
            <a:off x="912284" y="4437063"/>
            <a:ext cx="9886949" cy="792162"/>
          </a:xfrm>
        </p:spPr>
        <p:txBody>
          <a:bodyPr/>
          <a:lstStyle>
            <a:lvl1pPr algn="ctr">
              <a:defRPr sz="2400">
                <a:latin typeface="黑体" pitchFamily="2" charset="-122"/>
              </a:defRPr>
            </a:lvl1pPr>
          </a:lstStyle>
          <a:p>
            <a:r>
              <a:rPr lang="zh-CN" altLang="en-US" smtClean="0"/>
              <a:t>单击此处编辑母版标题样式</a:t>
            </a:r>
            <a:endParaRPr lang="zh-CN" altLang="en-US"/>
          </a:p>
        </p:txBody>
      </p:sp>
      <p:sp>
        <p:nvSpPr>
          <p:cNvPr id="11268" name="Rectangle 4"/>
          <p:cNvSpPr>
            <a:spLocks noGrp="1" noChangeArrowheads="1"/>
          </p:cNvSpPr>
          <p:nvPr>
            <p:ph type="subTitle" idx="1"/>
          </p:nvPr>
        </p:nvSpPr>
        <p:spPr>
          <a:xfrm>
            <a:off x="1678518" y="5373688"/>
            <a:ext cx="8257116" cy="647700"/>
          </a:xfrm>
        </p:spPr>
        <p:txBody>
          <a:bodyPr/>
          <a:lstStyle>
            <a:lvl1pPr marL="0" indent="0" algn="ctr">
              <a:buFont typeface="Wingdings" pitchFamily="2" charset="2"/>
              <a:buNone/>
              <a:defRPr sz="1500">
                <a:solidFill>
                  <a:srgbClr val="FF0000"/>
                </a:solidFill>
                <a:ea typeface="黑体" pitchFamily="2" charset="-122"/>
              </a:defRPr>
            </a:lvl1pPr>
          </a:lstStyle>
          <a:p>
            <a:r>
              <a:rPr lang="zh-CN" altLang="en-US" smtClean="0"/>
              <a:t>单击以编辑母版副标题样式</a:t>
            </a:r>
            <a:endParaRPr lang="zh-CN" altLang="en-US"/>
          </a:p>
        </p:txBody>
      </p:sp>
    </p:spTree>
    <p:extLst>
      <p:ext uri="{BB962C8B-B14F-4D97-AF65-F5344CB8AC3E}">
        <p14:creationId xmlns:p14="http://schemas.microsoft.com/office/powerpoint/2010/main" val="3360367133"/>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FCB0D5D1-EF19-40AF-8835-A7656014FD18}" type="slidenum">
              <a:rPr lang="en-US" altLang="zh-CN"/>
              <a:pPr>
                <a:defRPr/>
              </a:pPr>
              <a:t>‹#›</a:t>
            </a:fld>
            <a:endParaRPr lang="en-US" altLang="zh-CN"/>
          </a:p>
        </p:txBody>
      </p:sp>
    </p:spTree>
    <p:extLst>
      <p:ext uri="{BB962C8B-B14F-4D97-AF65-F5344CB8AC3E}">
        <p14:creationId xmlns:p14="http://schemas.microsoft.com/office/powerpoint/2010/main" val="3787363136"/>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69B6F968-F8EE-4C70-9C33-BFC333BC6742}" type="slidenum">
              <a:rPr lang="en-US" altLang="zh-CN"/>
              <a:pPr>
                <a:defRPr/>
              </a:pPr>
              <a:t>‹#›</a:t>
            </a:fld>
            <a:endParaRPr lang="en-US" altLang="zh-CN"/>
          </a:p>
        </p:txBody>
      </p:sp>
    </p:spTree>
    <p:extLst>
      <p:ext uri="{BB962C8B-B14F-4D97-AF65-F5344CB8AC3E}">
        <p14:creationId xmlns:p14="http://schemas.microsoft.com/office/powerpoint/2010/main" val="1515048934"/>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5517" y="1125538"/>
            <a:ext cx="5509683"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48400" y="1125538"/>
            <a:ext cx="5511800"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fld id="{405D5C8A-3422-4FAA-8B21-B4549DAD0CF0}" type="slidenum">
              <a:rPr lang="en-US" altLang="zh-CN"/>
              <a:pPr>
                <a:defRPr/>
              </a:pPr>
              <a:t>‹#›</a:t>
            </a:fld>
            <a:endParaRPr lang="en-US" altLang="zh-CN"/>
          </a:p>
        </p:txBody>
      </p:sp>
    </p:spTree>
    <p:extLst>
      <p:ext uri="{BB962C8B-B14F-4D97-AF65-F5344CB8AC3E}">
        <p14:creationId xmlns:p14="http://schemas.microsoft.com/office/powerpoint/2010/main" val="2955003634"/>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63408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124744"/>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09600" y="1764506"/>
            <a:ext cx="5386917" cy="47608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124744"/>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93368" y="1764506"/>
            <a:ext cx="5389033" cy="47608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fld id="{B14E340D-BBE4-4863-AEE3-C5056163B6CA}" type="slidenum">
              <a:rPr lang="en-US" altLang="zh-CN"/>
              <a:pPr>
                <a:defRPr/>
              </a:pPr>
              <a:t>‹#›</a:t>
            </a:fld>
            <a:endParaRPr lang="en-US" altLang="zh-CN"/>
          </a:p>
        </p:txBody>
      </p:sp>
    </p:spTree>
    <p:extLst>
      <p:ext uri="{BB962C8B-B14F-4D97-AF65-F5344CB8AC3E}">
        <p14:creationId xmlns:p14="http://schemas.microsoft.com/office/powerpoint/2010/main" val="1932754864"/>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fld id="{F71955FD-6E23-4E4E-8EEA-9CE11B2E2FDF}" type="slidenum">
              <a:rPr lang="en-US" altLang="zh-CN"/>
              <a:pPr>
                <a:defRPr/>
              </a:pPr>
              <a:t>‹#›</a:t>
            </a:fld>
            <a:endParaRPr lang="en-US" altLang="zh-CN"/>
          </a:p>
        </p:txBody>
      </p:sp>
    </p:spTree>
    <p:extLst>
      <p:ext uri="{BB962C8B-B14F-4D97-AF65-F5344CB8AC3E}">
        <p14:creationId xmlns:p14="http://schemas.microsoft.com/office/powerpoint/2010/main" val="538882224"/>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11568608" y="6381328"/>
            <a:ext cx="432000" cy="324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6"/>
          <p:cNvSpPr>
            <a:spLocks noGrp="1" noChangeArrowheads="1"/>
          </p:cNvSpPr>
          <p:nvPr>
            <p:ph type="sldNum" sz="quarter" idx="10"/>
          </p:nvPr>
        </p:nvSpPr>
        <p:spPr>
          <a:xfrm>
            <a:off x="10992544" y="6295896"/>
            <a:ext cx="1068916" cy="252000"/>
          </a:xfrm>
          <a:ln/>
        </p:spPr>
        <p:txBody>
          <a:bodyPr/>
          <a:lstStyle>
            <a:lvl1pPr>
              <a:defRPr sz="2400">
                <a:solidFill>
                  <a:schemeClr val="bg1"/>
                </a:solidFill>
              </a:defRPr>
            </a:lvl1pPr>
          </a:lstStyle>
          <a:p>
            <a:pPr>
              <a:defRPr/>
            </a:pPr>
            <a:fld id="{D4EDE88A-26C6-4D8E-B318-1FD492304EDD}" type="slidenum">
              <a:rPr lang="en-US" altLang="zh-CN" smtClean="0"/>
              <a:pPr>
                <a:defRPr/>
              </a:pPr>
              <a:t>‹#›</a:t>
            </a:fld>
            <a:endParaRPr lang="en-US" altLang="zh-CN"/>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3531" y="1088706"/>
            <a:ext cx="339722" cy="29560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54257444"/>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95742D8F-BDAE-44D7-957B-E463D6F37C08}" type="slidenum">
              <a:rPr lang="en-US" altLang="zh-CN"/>
              <a:pPr>
                <a:defRPr/>
              </a:pPr>
              <a:t>‹#›</a:t>
            </a:fld>
            <a:endParaRPr lang="en-US" altLang="zh-CN"/>
          </a:p>
        </p:txBody>
      </p:sp>
    </p:spTree>
    <p:extLst>
      <p:ext uri="{BB962C8B-B14F-4D97-AF65-F5344CB8AC3E}">
        <p14:creationId xmlns:p14="http://schemas.microsoft.com/office/powerpoint/2010/main" val="1983083250"/>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6A6C318A-5A3C-458A-BC6B-017F4AB9838A}" type="slidenum">
              <a:rPr lang="en-US" altLang="zh-CN"/>
              <a:pPr>
                <a:defRPr/>
              </a:pPr>
              <a:t>‹#›</a:t>
            </a:fld>
            <a:endParaRPr lang="en-US" altLang="zh-CN"/>
          </a:p>
        </p:txBody>
      </p:sp>
    </p:spTree>
    <p:extLst>
      <p:ext uri="{BB962C8B-B14F-4D97-AF65-F5344CB8AC3E}">
        <p14:creationId xmlns:p14="http://schemas.microsoft.com/office/powerpoint/2010/main" val="117788814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fld id="{141639C4-FA5E-4355-B7DD-82FD46BFC737}" type="slidenum">
              <a:rPr lang="en-US" altLang="zh-CN"/>
              <a:pPr>
                <a:defRPr/>
              </a:pPr>
              <a:t>‹#›</a:t>
            </a:fld>
            <a:endParaRPr lang="en-US" altLang="zh-CN"/>
          </a:p>
        </p:txBody>
      </p:sp>
    </p:spTree>
    <p:extLst>
      <p:ext uri="{BB962C8B-B14F-4D97-AF65-F5344CB8AC3E}">
        <p14:creationId xmlns:p14="http://schemas.microsoft.com/office/powerpoint/2010/main" val="171860789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53501" y="333376"/>
            <a:ext cx="2806700" cy="61198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7052" y="333376"/>
            <a:ext cx="8223249" cy="6119813"/>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fld id="{ACA3A23A-6102-481F-9171-4F2813ED6738}" type="slidenum">
              <a:rPr lang="en-US" altLang="zh-CN"/>
              <a:pPr>
                <a:defRPr/>
              </a:pPr>
              <a:t>‹#›</a:t>
            </a:fld>
            <a:endParaRPr lang="en-US" altLang="zh-CN"/>
          </a:p>
        </p:txBody>
      </p:sp>
    </p:spTree>
    <p:extLst>
      <p:ext uri="{BB962C8B-B14F-4D97-AF65-F5344CB8AC3E}">
        <p14:creationId xmlns:p14="http://schemas.microsoft.com/office/powerpoint/2010/main" val="30213212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Rectangle 5"/>
          <p:cNvSpPr>
            <a:spLocks noChangeArrowheads="1"/>
          </p:cNvSpPr>
          <p:nvPr/>
        </p:nvSpPr>
        <p:spPr bwMode="auto">
          <a:xfrm>
            <a:off x="5183717" y="981076"/>
            <a:ext cx="52324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方正瘦金书_GBK" charset="-122"/>
              </a:defRPr>
            </a:lvl1pPr>
            <a:lvl2pPr marL="742950" indent="-285750" eaLnBrk="0" hangingPunct="0">
              <a:defRPr>
                <a:solidFill>
                  <a:schemeClr val="tx1"/>
                </a:solidFill>
                <a:latin typeface="Arial" pitchFamily="34" charset="0"/>
                <a:ea typeface="方正瘦金书_GBK" charset="-122"/>
              </a:defRPr>
            </a:lvl2pPr>
            <a:lvl3pPr marL="1143000" indent="-228600" eaLnBrk="0" hangingPunct="0">
              <a:defRPr>
                <a:solidFill>
                  <a:schemeClr val="tx1"/>
                </a:solidFill>
                <a:latin typeface="Arial" pitchFamily="34" charset="0"/>
                <a:ea typeface="方正瘦金书_GBK" charset="-122"/>
              </a:defRPr>
            </a:lvl3pPr>
            <a:lvl4pPr marL="1600200" indent="-228600" eaLnBrk="0" hangingPunct="0">
              <a:defRPr>
                <a:solidFill>
                  <a:schemeClr val="tx1"/>
                </a:solidFill>
                <a:latin typeface="Arial" pitchFamily="34" charset="0"/>
                <a:ea typeface="方正瘦金书_GBK" charset="-122"/>
              </a:defRPr>
            </a:lvl4pPr>
            <a:lvl5pPr marL="2057400" indent="-228600" eaLnBrk="0" hangingPunct="0">
              <a:defRPr>
                <a:solidFill>
                  <a:schemeClr val="tx1"/>
                </a:solidFill>
                <a:latin typeface="Arial" pitchFamily="34" charset="0"/>
                <a:ea typeface="方正瘦金书_GBK" charset="-122"/>
              </a:defRPr>
            </a:lvl5pPr>
            <a:lvl6pPr marL="2514600" indent="-228600" eaLnBrk="0" fontAlgn="base" hangingPunct="0">
              <a:spcBef>
                <a:spcPct val="0"/>
              </a:spcBef>
              <a:spcAft>
                <a:spcPct val="0"/>
              </a:spcAft>
              <a:defRPr>
                <a:solidFill>
                  <a:schemeClr val="tx1"/>
                </a:solidFill>
                <a:latin typeface="Arial" pitchFamily="34" charset="0"/>
                <a:ea typeface="方正瘦金书_GBK" charset="-122"/>
              </a:defRPr>
            </a:lvl6pPr>
            <a:lvl7pPr marL="2971800" indent="-228600" eaLnBrk="0" fontAlgn="base" hangingPunct="0">
              <a:spcBef>
                <a:spcPct val="0"/>
              </a:spcBef>
              <a:spcAft>
                <a:spcPct val="0"/>
              </a:spcAft>
              <a:defRPr>
                <a:solidFill>
                  <a:schemeClr val="tx1"/>
                </a:solidFill>
                <a:latin typeface="Arial" pitchFamily="34" charset="0"/>
                <a:ea typeface="方正瘦金书_GBK" charset="-122"/>
              </a:defRPr>
            </a:lvl7pPr>
            <a:lvl8pPr marL="3429000" indent="-228600" eaLnBrk="0" fontAlgn="base" hangingPunct="0">
              <a:spcBef>
                <a:spcPct val="0"/>
              </a:spcBef>
              <a:spcAft>
                <a:spcPct val="0"/>
              </a:spcAft>
              <a:defRPr>
                <a:solidFill>
                  <a:schemeClr val="tx1"/>
                </a:solidFill>
                <a:latin typeface="Arial" pitchFamily="34" charset="0"/>
                <a:ea typeface="方正瘦金书_GBK" charset="-122"/>
              </a:defRPr>
            </a:lvl8pPr>
            <a:lvl9pPr marL="3886200" indent="-228600" eaLnBrk="0" fontAlgn="base" hangingPunct="0">
              <a:spcBef>
                <a:spcPct val="0"/>
              </a:spcBef>
              <a:spcAft>
                <a:spcPct val="0"/>
              </a:spcAft>
              <a:defRPr>
                <a:solidFill>
                  <a:schemeClr val="tx1"/>
                </a:solidFill>
                <a:latin typeface="Arial" pitchFamily="34" charset="0"/>
                <a:ea typeface="方正瘦金书_GBK" charset="-122"/>
              </a:defRPr>
            </a:lvl9pPr>
          </a:lstStyle>
          <a:p>
            <a:pPr eaLnBrk="1" hangingPunct="1">
              <a:defRPr/>
            </a:pPr>
            <a:endParaRPr lang="zh-CN" altLang="zh-CN" smtClean="0">
              <a:solidFill>
                <a:srgbClr val="000000"/>
              </a:solidFill>
              <a:ea typeface="宋体" pitchFamily="2" charset="-122"/>
              <a:cs typeface="方正瘦金书_GBK" charset="-122"/>
            </a:endParaRPr>
          </a:p>
        </p:txBody>
      </p:sp>
      <p:sp>
        <p:nvSpPr>
          <p:cNvPr id="11267" name="Rectangle 3"/>
          <p:cNvSpPr>
            <a:spLocks noGrp="1" noChangeArrowheads="1"/>
          </p:cNvSpPr>
          <p:nvPr>
            <p:ph type="ctrTitle"/>
          </p:nvPr>
        </p:nvSpPr>
        <p:spPr>
          <a:xfrm>
            <a:off x="914401" y="2130426"/>
            <a:ext cx="7869767" cy="1298575"/>
          </a:xfrm>
        </p:spPr>
        <p:txBody>
          <a:bodyPr/>
          <a:lstStyle>
            <a:lvl1pPr>
              <a:defRPr sz="7200">
                <a:latin typeface="黑体" pitchFamily="2" charset="-122"/>
              </a:defRPr>
            </a:lvl1pPr>
          </a:lstStyle>
          <a:p>
            <a:r>
              <a:rPr lang="zh-CN" altLang="en-US" smtClean="0"/>
              <a:t>单击此处编辑母版标题样式</a:t>
            </a:r>
            <a:endParaRPr lang="zh-CN" altLang="en-US" dirty="0"/>
          </a:p>
        </p:txBody>
      </p:sp>
    </p:spTree>
    <p:extLst>
      <p:ext uri="{BB962C8B-B14F-4D97-AF65-F5344CB8AC3E}">
        <p14:creationId xmlns:p14="http://schemas.microsoft.com/office/powerpoint/2010/main" val="3613890758"/>
      </p:ext>
    </p:extLst>
  </p:cSld>
  <p:clrMapOvr>
    <a:masterClrMapping/>
  </p:clrMapOvr>
  <p:transition spd="slow">
    <p:wip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pPr>
              <a:defRPr/>
            </a:pPr>
            <a:fld id="{E8E5A2EF-8764-4F93-BF10-BE14EDA1C209}"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045240907"/>
      </p:ext>
    </p:extLst>
  </p:cSld>
  <p:clrMapOvr>
    <a:masterClrMapping/>
  </p:clrMapOvr>
  <p:transition spd="slow">
    <p:wip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p:txBody>
          <a:bodyPr/>
          <a:lstStyle>
            <a:lvl1pPr>
              <a:defRPr/>
            </a:lvl1pPr>
          </a:lstStyle>
          <a:p>
            <a:pPr>
              <a:defRPr/>
            </a:pPr>
            <a:fld id="{2B948B65-CB7F-489E-B152-A06C072A9C6F}"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618211511"/>
      </p:ext>
    </p:extLst>
  </p:cSld>
  <p:clrMapOvr>
    <a:masterClrMapping/>
  </p:clrMapOvr>
  <p:transition spd="slow">
    <p:wip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4417" y="1125538"/>
            <a:ext cx="5376333" cy="5145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03952" y="1125538"/>
            <a:ext cx="5378449" cy="5145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015F376F-63FE-4D7D-BFEA-2A263BB64A2F}"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12015390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p:txBody>
          <a:bodyPr/>
          <a:lstStyle>
            <a:lvl1pPr>
              <a:defRPr/>
            </a:lvl1pPr>
          </a:lstStyle>
          <a:p>
            <a:pPr>
              <a:defRPr/>
            </a:pPr>
            <a:fld id="{91383B7A-D86E-4565-B61F-AB6E23C93800}"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893689970"/>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p:txBody>
          <a:bodyPr/>
          <a:lstStyle>
            <a:lvl1pPr>
              <a:defRPr/>
            </a:lvl1pPr>
          </a:lstStyle>
          <a:p>
            <a:pPr>
              <a:defRPr/>
            </a:pPr>
            <a:fld id="{F96E7420-9206-4E11-B9D1-7D4DE8CE8FD4}"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15503307"/>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xfrm>
            <a:off x="431800" y="6381750"/>
            <a:ext cx="1068917" cy="287338"/>
          </a:xfrm>
        </p:spPr>
        <p:txBody>
          <a:bodyPr/>
          <a:lstStyle>
            <a:lvl1pPr algn="l">
              <a:defRPr/>
            </a:lvl1pPr>
          </a:lstStyle>
          <a:p>
            <a:pPr>
              <a:defRPr/>
            </a:pPr>
            <a:fld id="{91DAE729-B87D-4257-96C7-B55F79BC161D}"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733080682"/>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p:txBody>
          <a:bodyPr/>
          <a:lstStyle>
            <a:lvl1pPr>
              <a:defRPr/>
            </a:lvl1pPr>
          </a:lstStyle>
          <a:p>
            <a:pPr>
              <a:defRPr/>
            </a:pPr>
            <a:fld id="{7E523B65-58A2-4BA9-90E6-848B22D5991F}"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474198708"/>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p:txBody>
          <a:bodyPr/>
          <a:lstStyle>
            <a:lvl1pPr>
              <a:defRPr/>
            </a:lvl1pPr>
          </a:lstStyle>
          <a:p>
            <a:pPr>
              <a:defRPr/>
            </a:pPr>
            <a:fld id="{1BA1941D-2454-4824-9DF2-6746DFF19FB4}"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315950296"/>
      </p:ext>
    </p:extLst>
  </p:cSld>
  <p:clrMapOvr>
    <a:masterClrMapping/>
  </p:clrMapOvr>
  <p:transition spd="slow">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4.jpe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ashVert">
          <a:fgClr>
            <a:schemeClr val="accent1"/>
          </a:fgClr>
          <a:bgClr>
            <a:schemeClr val="bg1"/>
          </a:bgClr>
        </a:pattFill>
        <a:effectLst/>
      </p:bgPr>
    </p:bg>
    <p:spTree>
      <p:nvGrpSpPr>
        <p:cNvPr id="1" name=""/>
        <p:cNvGrpSpPr/>
        <p:nvPr/>
      </p:nvGrpSpPr>
      <p:grpSpPr>
        <a:xfrm>
          <a:off x="0" y="0"/>
          <a:ext cx="0" cy="0"/>
          <a:chOff x="0" y="0"/>
          <a:chExt cx="0" cy="0"/>
        </a:xfrm>
      </p:grpSpPr>
      <p:pic>
        <p:nvPicPr>
          <p:cNvPr id="1026" name="Picture 19" descr="内页"/>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527051" y="333375"/>
            <a:ext cx="9120716"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535517" y="1125538"/>
            <a:ext cx="11224683"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46" name="Rectangle 6"/>
          <p:cNvSpPr>
            <a:spLocks noGrp="1" noChangeArrowheads="1"/>
          </p:cNvSpPr>
          <p:nvPr>
            <p:ph type="sldNum" sz="quarter" idx="4"/>
          </p:nvPr>
        </p:nvSpPr>
        <p:spPr bwMode="auto">
          <a:xfrm>
            <a:off x="11008785" y="6570663"/>
            <a:ext cx="1068916" cy="1444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0FAD7BE3-20FB-4C64-BC08-9C74BD9102E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105"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ransition/>
  <p:timing>
    <p:tnLst>
      <p:par>
        <p:cTn id="1" dur="indefinite" restart="never" nodeType="tmRoot"/>
      </p:par>
    </p:tnLst>
  </p:timing>
  <p:hf hdr="0" dt="0"/>
  <p:txStyles>
    <p:titleStyle>
      <a:lvl1pPr algn="l" rtl="0" eaLnBrk="1" fontAlgn="base" hangingPunct="1">
        <a:spcBef>
          <a:spcPct val="0"/>
        </a:spcBef>
        <a:spcAft>
          <a:spcPct val="0"/>
        </a:spcAft>
        <a:defRPr sz="2600" b="1">
          <a:solidFill>
            <a:schemeClr val="tx2"/>
          </a:solidFill>
          <a:latin typeface="+mj-lt"/>
          <a:ea typeface="+mj-ea"/>
          <a:cs typeface="+mj-cs"/>
        </a:defRPr>
      </a:lvl1pPr>
      <a:lvl2pPr algn="l" rtl="0" eaLnBrk="1" fontAlgn="base" hangingPunct="1">
        <a:spcBef>
          <a:spcPct val="0"/>
        </a:spcBef>
        <a:spcAft>
          <a:spcPct val="0"/>
        </a:spcAft>
        <a:defRPr sz="2600" b="1">
          <a:solidFill>
            <a:schemeClr val="tx2"/>
          </a:solidFill>
          <a:latin typeface="Arial" charset="0"/>
          <a:ea typeface="微软雅黑" pitchFamily="34" charset="-122"/>
        </a:defRPr>
      </a:lvl2pPr>
      <a:lvl3pPr algn="l" rtl="0" eaLnBrk="1" fontAlgn="base" hangingPunct="1">
        <a:spcBef>
          <a:spcPct val="0"/>
        </a:spcBef>
        <a:spcAft>
          <a:spcPct val="0"/>
        </a:spcAft>
        <a:defRPr sz="2600" b="1">
          <a:solidFill>
            <a:schemeClr val="tx2"/>
          </a:solidFill>
          <a:latin typeface="Arial" charset="0"/>
          <a:ea typeface="微软雅黑" pitchFamily="34" charset="-122"/>
        </a:defRPr>
      </a:lvl3pPr>
      <a:lvl4pPr algn="l" rtl="0" eaLnBrk="1" fontAlgn="base" hangingPunct="1">
        <a:spcBef>
          <a:spcPct val="0"/>
        </a:spcBef>
        <a:spcAft>
          <a:spcPct val="0"/>
        </a:spcAft>
        <a:defRPr sz="2600" b="1">
          <a:solidFill>
            <a:schemeClr val="tx2"/>
          </a:solidFill>
          <a:latin typeface="Arial" charset="0"/>
          <a:ea typeface="微软雅黑" pitchFamily="34" charset="-122"/>
        </a:defRPr>
      </a:lvl4pPr>
      <a:lvl5pPr algn="l" rtl="0" eaLnBrk="1" fontAlgn="base" hangingPunct="1">
        <a:spcBef>
          <a:spcPct val="0"/>
        </a:spcBef>
        <a:spcAft>
          <a:spcPct val="0"/>
        </a:spcAft>
        <a:defRPr sz="2600" b="1">
          <a:solidFill>
            <a:schemeClr val="tx2"/>
          </a:solidFill>
          <a:latin typeface="Arial" charset="0"/>
          <a:ea typeface="微软雅黑" pitchFamily="34" charset="-122"/>
        </a:defRPr>
      </a:lvl5pPr>
      <a:lvl6pPr marL="457200" algn="l" rtl="0" eaLnBrk="1" fontAlgn="base" hangingPunct="1">
        <a:spcBef>
          <a:spcPct val="0"/>
        </a:spcBef>
        <a:spcAft>
          <a:spcPct val="0"/>
        </a:spcAft>
        <a:defRPr sz="2600" b="1">
          <a:solidFill>
            <a:schemeClr val="tx2"/>
          </a:solidFill>
          <a:latin typeface="Arial" charset="0"/>
          <a:ea typeface="微软雅黑" pitchFamily="34" charset="-122"/>
        </a:defRPr>
      </a:lvl6pPr>
      <a:lvl7pPr marL="914400" algn="l" rtl="0" eaLnBrk="1" fontAlgn="base" hangingPunct="1">
        <a:spcBef>
          <a:spcPct val="0"/>
        </a:spcBef>
        <a:spcAft>
          <a:spcPct val="0"/>
        </a:spcAft>
        <a:defRPr sz="2600" b="1">
          <a:solidFill>
            <a:schemeClr val="tx2"/>
          </a:solidFill>
          <a:latin typeface="Arial" charset="0"/>
          <a:ea typeface="微软雅黑" pitchFamily="34" charset="-122"/>
        </a:defRPr>
      </a:lvl7pPr>
      <a:lvl8pPr marL="1371600" algn="l" rtl="0" eaLnBrk="1" fontAlgn="base" hangingPunct="1">
        <a:spcBef>
          <a:spcPct val="0"/>
        </a:spcBef>
        <a:spcAft>
          <a:spcPct val="0"/>
        </a:spcAft>
        <a:defRPr sz="2600" b="1">
          <a:solidFill>
            <a:schemeClr val="tx2"/>
          </a:solidFill>
          <a:latin typeface="Arial" charset="0"/>
          <a:ea typeface="微软雅黑" pitchFamily="34" charset="-122"/>
        </a:defRPr>
      </a:lvl8pPr>
      <a:lvl9pPr marL="1828800" algn="l" rtl="0" eaLnBrk="1" fontAlgn="base" hangingPunct="1">
        <a:spcBef>
          <a:spcPct val="0"/>
        </a:spcBef>
        <a:spcAft>
          <a:spcPct val="0"/>
        </a:spcAft>
        <a:defRPr sz="2600" b="1">
          <a:solidFill>
            <a:schemeClr val="tx2"/>
          </a:solidFill>
          <a:latin typeface="Arial" charset="0"/>
          <a:ea typeface="微软雅黑" pitchFamily="34" charset="-122"/>
        </a:defRPr>
      </a:lvl9pPr>
    </p:titleStyle>
    <p:bodyStyle>
      <a:lvl1pPr marL="342900" indent="-342900" algn="l" rtl="0" eaLnBrk="1" fontAlgn="base" hangingPunct="1">
        <a:lnSpc>
          <a:spcPct val="120000"/>
        </a:lnSpc>
        <a:spcBef>
          <a:spcPct val="20000"/>
        </a:spcBef>
        <a:spcAft>
          <a:spcPct val="0"/>
        </a:spcAft>
        <a:buClr>
          <a:srgbClr val="FF0000"/>
        </a:buClr>
        <a:buFont typeface="Wingdings" panose="05000000000000000000" pitchFamily="2" charset="2"/>
        <a:buChar char="n"/>
        <a:defRPr sz="2600">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rgbClr val="FF0000"/>
        </a:buClr>
        <a:buFont typeface="Wingdings" panose="05000000000000000000" pitchFamily="2" charset="2"/>
        <a:buChar char="p"/>
        <a:defRPr sz="2200">
          <a:solidFill>
            <a:schemeClr val="tx1"/>
          </a:solidFill>
          <a:latin typeface="+mn-lt"/>
          <a:ea typeface="+mn-ea"/>
        </a:defRPr>
      </a:lvl2pPr>
      <a:lvl3pPr marL="1143000" indent="-228600" algn="l" rtl="0" eaLnBrk="1" fontAlgn="base" hangingPunct="1">
        <a:lnSpc>
          <a:spcPct val="120000"/>
        </a:lnSpc>
        <a:spcBef>
          <a:spcPct val="20000"/>
        </a:spcBef>
        <a:spcAft>
          <a:spcPct val="0"/>
        </a:spcAft>
        <a:buClr>
          <a:srgbClr val="FF0000"/>
        </a:buClr>
        <a:buFont typeface="Wingdings" panose="05000000000000000000" pitchFamily="2" charset="2"/>
        <a:buChar char="Ø"/>
        <a:defRPr>
          <a:solidFill>
            <a:schemeClr val="tx1"/>
          </a:solidFill>
          <a:latin typeface="+mn-lt"/>
          <a:ea typeface="+mn-ea"/>
        </a:defRPr>
      </a:lvl3pPr>
      <a:lvl4pPr marL="1600200" indent="-228600" algn="l" rtl="0" eaLnBrk="1" fontAlgn="base" hangingPunct="1">
        <a:lnSpc>
          <a:spcPct val="120000"/>
        </a:lnSpc>
        <a:spcBef>
          <a:spcPct val="20000"/>
        </a:spcBef>
        <a:spcAft>
          <a:spcPct val="0"/>
        </a:spcAft>
        <a:buClr>
          <a:srgbClr val="FF0000"/>
        </a:buClr>
        <a:buFont typeface="Wingdings" panose="05000000000000000000" pitchFamily="2" charset="2"/>
        <a:buChar char="§"/>
        <a:defRPr sz="1600">
          <a:solidFill>
            <a:schemeClr val="tx1"/>
          </a:solidFill>
          <a:latin typeface="+mn-lt"/>
          <a:ea typeface="+mn-ea"/>
        </a:defRPr>
      </a:lvl4pPr>
      <a:lvl5pPr marL="2057400" indent="-228600" algn="l" rtl="0" eaLnBrk="1" fontAlgn="base" hangingPunct="1">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5pPr>
      <a:lvl6pPr marL="2514600" indent="-228600" algn="l" rtl="0" eaLnBrk="1" fontAlgn="base" hangingPunct="1">
        <a:lnSpc>
          <a:spcPct val="120000"/>
        </a:lnSpc>
        <a:spcBef>
          <a:spcPct val="20000"/>
        </a:spcBef>
        <a:spcAft>
          <a:spcPct val="0"/>
        </a:spcAft>
        <a:buClr>
          <a:srgbClr val="FF0000"/>
        </a:buClr>
        <a:buFont typeface="Arial" charset="0"/>
        <a:buChar char="-"/>
        <a:defRPr sz="1400">
          <a:solidFill>
            <a:schemeClr val="tx1"/>
          </a:solidFill>
          <a:latin typeface="+mn-lt"/>
          <a:ea typeface="+mn-ea"/>
        </a:defRPr>
      </a:lvl6pPr>
      <a:lvl7pPr marL="2971800" indent="-228600" algn="l" rtl="0" eaLnBrk="1" fontAlgn="base" hangingPunct="1">
        <a:lnSpc>
          <a:spcPct val="120000"/>
        </a:lnSpc>
        <a:spcBef>
          <a:spcPct val="20000"/>
        </a:spcBef>
        <a:spcAft>
          <a:spcPct val="0"/>
        </a:spcAft>
        <a:buClr>
          <a:srgbClr val="FF0000"/>
        </a:buClr>
        <a:buFont typeface="Arial" charset="0"/>
        <a:buChar char="-"/>
        <a:defRPr sz="1400">
          <a:solidFill>
            <a:schemeClr val="tx1"/>
          </a:solidFill>
          <a:latin typeface="+mn-lt"/>
          <a:ea typeface="+mn-ea"/>
        </a:defRPr>
      </a:lvl7pPr>
      <a:lvl8pPr marL="3429000" indent="-228600" algn="l" rtl="0" eaLnBrk="1" fontAlgn="base" hangingPunct="1">
        <a:lnSpc>
          <a:spcPct val="120000"/>
        </a:lnSpc>
        <a:spcBef>
          <a:spcPct val="20000"/>
        </a:spcBef>
        <a:spcAft>
          <a:spcPct val="0"/>
        </a:spcAft>
        <a:buClr>
          <a:srgbClr val="FF0000"/>
        </a:buClr>
        <a:buFont typeface="Arial" charset="0"/>
        <a:buChar char="-"/>
        <a:defRPr sz="1400">
          <a:solidFill>
            <a:schemeClr val="tx1"/>
          </a:solidFill>
          <a:latin typeface="+mn-lt"/>
          <a:ea typeface="+mn-ea"/>
        </a:defRPr>
      </a:lvl8pPr>
      <a:lvl9pPr marL="3886200" indent="-228600" algn="l" rtl="0" eaLnBrk="1" fontAlgn="base" hangingPunct="1">
        <a:lnSpc>
          <a:spcPct val="120000"/>
        </a:lnSpc>
        <a:spcBef>
          <a:spcPct val="20000"/>
        </a:spcBef>
        <a:spcAft>
          <a:spcPct val="0"/>
        </a:spcAft>
        <a:buClr>
          <a:srgbClr val="FF0000"/>
        </a:buClr>
        <a:buFont typeface="Arial" charset="0"/>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1"/>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624417" y="274639"/>
            <a:ext cx="70104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4"/>
          <p:cNvSpPr>
            <a:spLocks noGrp="1" noChangeArrowheads="1"/>
          </p:cNvSpPr>
          <p:nvPr>
            <p:ph type="body" idx="1"/>
          </p:nvPr>
        </p:nvSpPr>
        <p:spPr bwMode="auto">
          <a:xfrm>
            <a:off x="624418" y="1125538"/>
            <a:ext cx="10957983" cy="514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46" name="Rectangle 6"/>
          <p:cNvSpPr>
            <a:spLocks noGrp="1" noChangeArrowheads="1"/>
          </p:cNvSpPr>
          <p:nvPr>
            <p:ph type="sldNum" sz="quarter" idx="4"/>
          </p:nvPr>
        </p:nvSpPr>
        <p:spPr bwMode="auto">
          <a:xfrm>
            <a:off x="431800" y="6453188"/>
            <a:ext cx="1068917" cy="1444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1">
                <a:solidFill>
                  <a:schemeClr val="bg1"/>
                </a:solidFill>
                <a:latin typeface="Georgia" pitchFamily="18" charset="0"/>
                <a:ea typeface="+mn-ea"/>
                <a:cs typeface="+mn-cs"/>
              </a:defRPr>
            </a:lvl1pPr>
          </a:lstStyle>
          <a:p>
            <a:pPr eaLnBrk="1" hangingPunct="1">
              <a:defRPr/>
            </a:pPr>
            <a:fld id="{FD2FCFA0-9F45-4A4E-9C28-DEB4A9B6D10A}" type="slidenum">
              <a:rPr lang="en-US" altLang="zh-CN">
                <a:solidFill>
                  <a:srgbClr val="FFFFFF"/>
                </a:solidFill>
              </a:rPr>
              <a:pPr eaLnBrk="1" hangingPunct="1">
                <a:defRPr/>
              </a:pPr>
              <a:t>‹#›</a:t>
            </a:fld>
            <a:endParaRPr lang="en-US" altLang="zh-CN">
              <a:solidFill>
                <a:srgbClr val="FFFFFF"/>
              </a:solidFill>
            </a:endParaRPr>
          </a:p>
        </p:txBody>
      </p:sp>
      <p:sp>
        <p:nvSpPr>
          <p:cNvPr id="2" name="日期占位符 1"/>
          <p:cNvSpPr>
            <a:spLocks noGrp="1"/>
          </p:cNvSpPr>
          <p:nvPr>
            <p:ph type="dt" sz="half" idx="2"/>
          </p:nvPr>
        </p:nvSpPr>
        <p:spPr>
          <a:xfrm>
            <a:off x="3215218" y="6308726"/>
            <a:ext cx="3456516" cy="365125"/>
          </a:xfrm>
          <a:prstGeom prst="rect">
            <a:avLst/>
          </a:prstGeom>
        </p:spPr>
        <p:txBody>
          <a:bodyPr vert="horz" lIns="91440" tIns="45720" rIns="91440" bIns="45720" rtlCol="0" anchor="ctr"/>
          <a:lstStyle>
            <a:lvl1pPr algn="l">
              <a:defRPr sz="1200" b="1">
                <a:solidFill>
                  <a:schemeClr val="bg1"/>
                </a:solidFill>
                <a:latin typeface="Georgia" pitchFamily="18" charset="0"/>
                <a:ea typeface="方正瘦金书_GBK" pitchFamily="65" charset="-122"/>
                <a:cs typeface="+mn-cs"/>
              </a:defRPr>
            </a:lvl1pPr>
          </a:lstStyle>
          <a:p>
            <a:pPr eaLnBrk="1" hangingPunct="1">
              <a:defRPr/>
            </a:pPr>
            <a:endParaRPr lang="zh-CN" altLang="en-US">
              <a:solidFill>
                <a:srgbClr val="FFFFFF"/>
              </a:solidFill>
            </a:endParaRPr>
          </a:p>
        </p:txBody>
      </p:sp>
    </p:spTree>
    <p:extLst>
      <p:ext uri="{BB962C8B-B14F-4D97-AF65-F5344CB8AC3E}">
        <p14:creationId xmlns:p14="http://schemas.microsoft.com/office/powerpoint/2010/main" val="785438319"/>
      </p:ext>
    </p:extLst>
  </p:cSld>
  <p:clrMap bg1="lt1" tx1="dk1" bg2="lt2" tx2="dk2" accent1="accent1" accent2="accent2" accent3="accent3" accent4="accent4" accent5="accent5" accent6="accent6" hlink="hlink" folHlink="folHlink"/>
  <p:sldLayoutIdLst>
    <p:sldLayoutId id="2147484107" r:id="rId1"/>
    <p:sldLayoutId id="2147484108" r:id="rId2"/>
    <p:sldLayoutId id="2147484109" r:id="rId3"/>
    <p:sldLayoutId id="2147484110" r:id="rId4"/>
    <p:sldLayoutId id="2147484111" r:id="rId5"/>
    <p:sldLayoutId id="2147484112" r:id="rId6"/>
    <p:sldLayoutId id="2147484113" r:id="rId7"/>
    <p:sldLayoutId id="2147484114" r:id="rId8"/>
    <p:sldLayoutId id="2147484115" r:id="rId9"/>
  </p:sldLayoutIdLst>
  <p:transition spd="slow">
    <p:wipe/>
  </p:transition>
  <p:timing>
    <p:tnLst>
      <p:par>
        <p:cTn id="1" dur="indefinite" restart="never" nodeType="tmRoot"/>
      </p:par>
    </p:tnLst>
  </p:timing>
  <p:hf hd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ea typeface="黑体" pitchFamily="2" charset="-122"/>
        </a:defRPr>
      </a:lvl2pPr>
      <a:lvl3pPr algn="l" rtl="0" eaLnBrk="0" fontAlgn="base" hangingPunct="0">
        <a:spcBef>
          <a:spcPct val="0"/>
        </a:spcBef>
        <a:spcAft>
          <a:spcPct val="0"/>
        </a:spcAft>
        <a:defRPr sz="3200">
          <a:solidFill>
            <a:schemeClr val="tx2"/>
          </a:solidFill>
          <a:latin typeface="Arial" charset="0"/>
          <a:ea typeface="黑体" pitchFamily="2" charset="-122"/>
        </a:defRPr>
      </a:lvl3pPr>
      <a:lvl4pPr algn="l" rtl="0" eaLnBrk="0" fontAlgn="base" hangingPunct="0">
        <a:spcBef>
          <a:spcPct val="0"/>
        </a:spcBef>
        <a:spcAft>
          <a:spcPct val="0"/>
        </a:spcAft>
        <a:defRPr sz="3200">
          <a:solidFill>
            <a:schemeClr val="tx2"/>
          </a:solidFill>
          <a:latin typeface="Arial" charset="0"/>
          <a:ea typeface="黑体" pitchFamily="2" charset="-122"/>
        </a:defRPr>
      </a:lvl4pPr>
      <a:lvl5pPr algn="l" rtl="0" eaLnBrk="0" fontAlgn="base" hangingPunct="0">
        <a:spcBef>
          <a:spcPct val="0"/>
        </a:spcBef>
        <a:spcAft>
          <a:spcPct val="0"/>
        </a:spcAft>
        <a:defRPr sz="3200">
          <a:solidFill>
            <a:schemeClr val="tx2"/>
          </a:solidFill>
          <a:latin typeface="Arial" charset="0"/>
          <a:ea typeface="黑体" pitchFamily="2" charset="-122"/>
        </a:defRPr>
      </a:lvl5pPr>
      <a:lvl6pPr marL="457200" algn="l" rtl="0" fontAlgn="base">
        <a:spcBef>
          <a:spcPct val="0"/>
        </a:spcBef>
        <a:spcAft>
          <a:spcPct val="0"/>
        </a:spcAft>
        <a:defRPr sz="3200">
          <a:solidFill>
            <a:schemeClr val="tx2"/>
          </a:solidFill>
          <a:latin typeface="Arial" charset="0"/>
          <a:ea typeface="黑体" pitchFamily="2" charset="-122"/>
        </a:defRPr>
      </a:lvl6pPr>
      <a:lvl7pPr marL="914400" algn="l" rtl="0" fontAlgn="base">
        <a:spcBef>
          <a:spcPct val="0"/>
        </a:spcBef>
        <a:spcAft>
          <a:spcPct val="0"/>
        </a:spcAft>
        <a:defRPr sz="3200">
          <a:solidFill>
            <a:schemeClr val="tx2"/>
          </a:solidFill>
          <a:latin typeface="Arial" charset="0"/>
          <a:ea typeface="黑体" pitchFamily="2" charset="-122"/>
        </a:defRPr>
      </a:lvl7pPr>
      <a:lvl8pPr marL="1371600" algn="l" rtl="0" fontAlgn="base">
        <a:spcBef>
          <a:spcPct val="0"/>
        </a:spcBef>
        <a:spcAft>
          <a:spcPct val="0"/>
        </a:spcAft>
        <a:defRPr sz="3200">
          <a:solidFill>
            <a:schemeClr val="tx2"/>
          </a:solidFill>
          <a:latin typeface="Arial" charset="0"/>
          <a:ea typeface="黑体" pitchFamily="2" charset="-122"/>
        </a:defRPr>
      </a:lvl8pPr>
      <a:lvl9pPr marL="1828800" algn="l" rtl="0" fontAlgn="base">
        <a:spcBef>
          <a:spcPct val="0"/>
        </a:spcBef>
        <a:spcAft>
          <a:spcPct val="0"/>
        </a:spcAft>
        <a:defRPr sz="3200">
          <a:solidFill>
            <a:schemeClr val="tx2"/>
          </a:solidFill>
          <a:latin typeface="Arial" charset="0"/>
          <a:ea typeface="黑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baike.baidu.com/item/%E5%AD%98%E5%82%A8%E6%96%87%E4%BB%B6/23734835?fromModule=lemma_inlink"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hyperlink" Target="https://baike.baidu.com/item/%E6%8E%A7%E5%88%B6%E6%96%87%E4%BB%B6/1505322?fromModule=lemma_inlink" TargetMode="External"/><Relationship Id="rId4" Type="http://schemas.openxmlformats.org/officeDocument/2006/relationships/hyperlink" Target="https://baike.baidu.com/item/%E6%96%87%E4%BB%B6%E7%AE%A1%E7%90%86%E7%B3%BB%E7%BB%9F/8164847?fromModule=lemma_inlink"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5" descr="C:\Documents and Settings\DingQi\桌面\封面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368" y="154438"/>
            <a:ext cx="11377263" cy="597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PPBand0"/>
          <p:cNvSpPr txBox="1">
            <a:spLocks noChangeArrowheads="1"/>
          </p:cNvSpPr>
          <p:nvPr/>
        </p:nvSpPr>
        <p:spPr bwMode="auto">
          <a:xfrm>
            <a:off x="3791743" y="4365104"/>
            <a:ext cx="4320479"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hangingPunct="1">
              <a:lnSpc>
                <a:spcPct val="150000"/>
              </a:lnSpc>
              <a:spcBef>
                <a:spcPct val="0"/>
              </a:spcBef>
              <a:buFontTx/>
              <a:buNone/>
            </a:pPr>
            <a:r>
              <a:rPr lang="en-US" altLang="zh-CN" sz="2400" b="1" dirty="0" smtClean="0">
                <a:solidFill>
                  <a:srgbClr val="920000"/>
                </a:solidFill>
                <a:latin typeface="微软雅黑" pitchFamily="34" charset="-122"/>
                <a:ea typeface="微软雅黑" pitchFamily="34" charset="-122"/>
              </a:rPr>
              <a:t>EXT2</a:t>
            </a:r>
            <a:r>
              <a:rPr lang="zh-CN" altLang="en-US" sz="2400" b="1" dirty="0" smtClean="0">
                <a:solidFill>
                  <a:srgbClr val="920000"/>
                </a:solidFill>
                <a:latin typeface="微软雅黑" pitchFamily="34" charset="-122"/>
                <a:ea typeface="微软雅黑" pitchFamily="34" charset="-122"/>
              </a:rPr>
              <a:t>文件系统</a:t>
            </a:r>
            <a:r>
              <a:rPr lang="zh-CN" altLang="en-US" sz="2400" b="1" dirty="0" smtClean="0">
                <a:solidFill>
                  <a:srgbClr val="920000"/>
                </a:solidFill>
                <a:latin typeface="微软雅黑" pitchFamily="34" charset="-122"/>
                <a:ea typeface="微软雅黑" pitchFamily="34" charset="-122"/>
              </a:rPr>
              <a:t>基础知识分享</a:t>
            </a:r>
            <a:endParaRPr lang="en-US" altLang="zh-CN" sz="2400" b="1" dirty="0">
              <a:solidFill>
                <a:srgbClr val="920000"/>
              </a:solidFill>
              <a:latin typeface="微软雅黑" pitchFamily="34" charset="-122"/>
              <a:ea typeface="微软雅黑" pitchFamily="34" charset="-122"/>
            </a:endParaRPr>
          </a:p>
        </p:txBody>
      </p:sp>
      <p:sp>
        <p:nvSpPr>
          <p:cNvPr id="5" name="PPBand0"/>
          <p:cNvSpPr txBox="1">
            <a:spLocks noChangeArrowheads="1"/>
          </p:cNvSpPr>
          <p:nvPr/>
        </p:nvSpPr>
        <p:spPr bwMode="auto">
          <a:xfrm>
            <a:off x="4645308" y="5235142"/>
            <a:ext cx="2613348" cy="577850"/>
          </a:xfrm>
          <a:prstGeom prst="rect">
            <a:avLst/>
          </a:prstGeom>
          <a:noFill/>
          <a:ln w="9525">
            <a:noFill/>
            <a:miter lim="800000"/>
            <a:headEnd/>
            <a:tailEnd/>
          </a:ln>
        </p:spPr>
        <p:txBody>
          <a:bodyPr anchor="ctr"/>
          <a:lstStyle>
            <a:lvl1pPr algn="l" rtl="0" eaLnBrk="0" fontAlgn="base" hangingPunct="0">
              <a:spcBef>
                <a:spcPct val="0"/>
              </a:spcBef>
              <a:spcAft>
                <a:spcPct val="0"/>
              </a:spcAft>
              <a:defRPr sz="7200">
                <a:solidFill>
                  <a:schemeClr val="tx2"/>
                </a:solidFill>
                <a:latin typeface="黑体" pitchFamily="2" charset="-122"/>
                <a:ea typeface="+mj-ea"/>
                <a:cs typeface="+mj-cs"/>
              </a:defRPr>
            </a:lvl1pPr>
            <a:lvl2pPr algn="l" rtl="0" eaLnBrk="0" fontAlgn="base" hangingPunct="0">
              <a:spcBef>
                <a:spcPct val="0"/>
              </a:spcBef>
              <a:spcAft>
                <a:spcPct val="0"/>
              </a:spcAft>
              <a:defRPr sz="3200">
                <a:solidFill>
                  <a:schemeClr val="tx2"/>
                </a:solidFill>
                <a:latin typeface="Arial" charset="0"/>
                <a:ea typeface="黑体" pitchFamily="2" charset="-122"/>
              </a:defRPr>
            </a:lvl2pPr>
            <a:lvl3pPr algn="l" rtl="0" eaLnBrk="0" fontAlgn="base" hangingPunct="0">
              <a:spcBef>
                <a:spcPct val="0"/>
              </a:spcBef>
              <a:spcAft>
                <a:spcPct val="0"/>
              </a:spcAft>
              <a:defRPr sz="3200">
                <a:solidFill>
                  <a:schemeClr val="tx2"/>
                </a:solidFill>
                <a:latin typeface="Arial" charset="0"/>
                <a:ea typeface="黑体" pitchFamily="2" charset="-122"/>
              </a:defRPr>
            </a:lvl3pPr>
            <a:lvl4pPr algn="l" rtl="0" eaLnBrk="0" fontAlgn="base" hangingPunct="0">
              <a:spcBef>
                <a:spcPct val="0"/>
              </a:spcBef>
              <a:spcAft>
                <a:spcPct val="0"/>
              </a:spcAft>
              <a:defRPr sz="3200">
                <a:solidFill>
                  <a:schemeClr val="tx2"/>
                </a:solidFill>
                <a:latin typeface="Arial" charset="0"/>
                <a:ea typeface="黑体" pitchFamily="2" charset="-122"/>
              </a:defRPr>
            </a:lvl4pPr>
            <a:lvl5pPr algn="l" rtl="0" eaLnBrk="0" fontAlgn="base" hangingPunct="0">
              <a:spcBef>
                <a:spcPct val="0"/>
              </a:spcBef>
              <a:spcAft>
                <a:spcPct val="0"/>
              </a:spcAft>
              <a:defRPr sz="3200">
                <a:solidFill>
                  <a:schemeClr val="tx2"/>
                </a:solidFill>
                <a:latin typeface="Arial" charset="0"/>
                <a:ea typeface="黑体" pitchFamily="2" charset="-122"/>
              </a:defRPr>
            </a:lvl5pPr>
            <a:lvl6pPr marL="457200" algn="l" rtl="0" fontAlgn="base">
              <a:spcBef>
                <a:spcPct val="0"/>
              </a:spcBef>
              <a:spcAft>
                <a:spcPct val="0"/>
              </a:spcAft>
              <a:defRPr sz="3200">
                <a:solidFill>
                  <a:schemeClr val="tx2"/>
                </a:solidFill>
                <a:latin typeface="Arial" charset="0"/>
                <a:ea typeface="黑体" pitchFamily="2" charset="-122"/>
              </a:defRPr>
            </a:lvl6pPr>
            <a:lvl7pPr marL="914400" algn="l" rtl="0" fontAlgn="base">
              <a:spcBef>
                <a:spcPct val="0"/>
              </a:spcBef>
              <a:spcAft>
                <a:spcPct val="0"/>
              </a:spcAft>
              <a:defRPr sz="3200">
                <a:solidFill>
                  <a:schemeClr val="tx2"/>
                </a:solidFill>
                <a:latin typeface="Arial" charset="0"/>
                <a:ea typeface="黑体" pitchFamily="2" charset="-122"/>
              </a:defRPr>
            </a:lvl7pPr>
            <a:lvl8pPr marL="1371600" algn="l" rtl="0" fontAlgn="base">
              <a:spcBef>
                <a:spcPct val="0"/>
              </a:spcBef>
              <a:spcAft>
                <a:spcPct val="0"/>
              </a:spcAft>
              <a:defRPr sz="3200">
                <a:solidFill>
                  <a:schemeClr val="tx2"/>
                </a:solidFill>
                <a:latin typeface="Arial" charset="0"/>
                <a:ea typeface="黑体" pitchFamily="2" charset="-122"/>
              </a:defRPr>
            </a:lvl8pPr>
            <a:lvl9pPr marL="1828800" algn="l" rtl="0" fontAlgn="base">
              <a:spcBef>
                <a:spcPct val="0"/>
              </a:spcBef>
              <a:spcAft>
                <a:spcPct val="0"/>
              </a:spcAft>
              <a:defRPr sz="3200">
                <a:solidFill>
                  <a:schemeClr val="tx2"/>
                </a:solidFill>
                <a:latin typeface="Arial" charset="0"/>
                <a:ea typeface="黑体" pitchFamily="2" charset="-122"/>
              </a:defRPr>
            </a:lvl9pPr>
          </a:lstStyle>
          <a:p>
            <a:pPr algn="ctr" eaLnBrk="1" hangingPunct="1">
              <a:lnSpc>
                <a:spcPct val="150000"/>
              </a:lnSpc>
              <a:defRPr/>
            </a:pPr>
            <a:r>
              <a:rPr lang="zh-CN" altLang="en-US" sz="1400" b="1" dirty="0" smtClean="0">
                <a:solidFill>
                  <a:srgbClr val="FFFFFF">
                    <a:lumMod val="50000"/>
                  </a:srgbClr>
                </a:solidFill>
                <a:latin typeface="+mn-ea"/>
                <a:ea typeface="+mn-ea"/>
              </a:rPr>
              <a:t>何庆龙</a:t>
            </a:r>
            <a:r>
              <a:rPr lang="en-US" altLang="zh-CN" sz="1400" b="1" dirty="0" smtClean="0">
                <a:solidFill>
                  <a:srgbClr val="FFFFFF">
                    <a:lumMod val="50000"/>
                  </a:srgbClr>
                </a:solidFill>
                <a:latin typeface="+mn-ea"/>
                <a:ea typeface="+mn-ea"/>
              </a:rPr>
              <a:t>5</a:t>
            </a:r>
            <a:endParaRPr lang="en-US" altLang="zh-CN" sz="1400" b="1" dirty="0">
              <a:solidFill>
                <a:srgbClr val="FFFFFF">
                  <a:lumMod val="50000"/>
                </a:srgbClr>
              </a:solidFill>
              <a:latin typeface="+mn-ea"/>
              <a:ea typeface="+mn-ea"/>
            </a:endParaRPr>
          </a:p>
        </p:txBody>
      </p:sp>
      <p:sp>
        <p:nvSpPr>
          <p:cNvPr id="11269" name="Text Box 6"/>
          <p:cNvSpPr txBox="1">
            <a:spLocks noChangeArrowheads="1"/>
          </p:cNvSpPr>
          <p:nvPr/>
        </p:nvSpPr>
        <p:spPr bwMode="auto">
          <a:xfrm>
            <a:off x="5303913" y="5943435"/>
            <a:ext cx="14224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50000"/>
              </a:spcBef>
              <a:buFontTx/>
              <a:buNone/>
            </a:pPr>
            <a:r>
              <a:rPr lang="en-US" altLang="zh-CN" sz="1800" dirty="0" smtClean="0">
                <a:solidFill>
                  <a:srgbClr val="808080"/>
                </a:solidFill>
                <a:latin typeface="微软雅黑" panose="020B0503020204020204" pitchFamily="34" charset="-122"/>
                <a:ea typeface="微软雅黑" panose="020B0503020204020204" pitchFamily="34" charset="-122"/>
              </a:rPr>
              <a:t>2024.05.13</a:t>
            </a:r>
            <a:endParaRPr lang="en-US" altLang="zh-CN" sz="1800" dirty="0">
              <a:solidFill>
                <a:srgbClr val="80808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92919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AEFB6ABA-B7A7-8413-143F-D4374B4867CF}"/>
              </a:ext>
            </a:extLst>
          </p:cNvPr>
          <p:cNvSpPr txBox="1"/>
          <p:nvPr/>
        </p:nvSpPr>
        <p:spPr>
          <a:xfrm>
            <a:off x="8544272" y="2420648"/>
            <a:ext cx="612668" cy="461665"/>
          </a:xfrm>
          <a:prstGeom prst="rect">
            <a:avLst/>
          </a:prstGeom>
          <a:noFill/>
        </p:spPr>
        <p:txBody>
          <a:bodyPr wrap="none" rtlCol="0">
            <a:spAutoFit/>
          </a:bodyPr>
          <a:lstStyle/>
          <a:p>
            <a:r>
              <a:rPr lang="en-US" altLang="zh-CN" sz="2400" b="1"/>
              <a:t>01.</a:t>
            </a:r>
            <a:endParaRPr lang="zh-CN" altLang="en-US" sz="2400" b="1"/>
          </a:p>
        </p:txBody>
      </p:sp>
      <p:sp>
        <p:nvSpPr>
          <p:cNvPr id="17" name="文本框 16">
            <a:extLst>
              <a:ext uri="{FF2B5EF4-FFF2-40B4-BE49-F238E27FC236}">
                <a16:creationId xmlns:a16="http://schemas.microsoft.com/office/drawing/2014/main" id="{630BB524-A2F5-9E9C-9442-75D8EB6A8585}"/>
              </a:ext>
            </a:extLst>
          </p:cNvPr>
          <p:cNvSpPr txBox="1"/>
          <p:nvPr/>
        </p:nvSpPr>
        <p:spPr>
          <a:xfrm>
            <a:off x="8544272" y="3297843"/>
            <a:ext cx="612668" cy="461665"/>
          </a:xfrm>
          <a:prstGeom prst="rect">
            <a:avLst/>
          </a:prstGeom>
          <a:noFill/>
        </p:spPr>
        <p:txBody>
          <a:bodyPr wrap="none" rtlCol="0">
            <a:spAutoFit/>
          </a:bodyPr>
          <a:lstStyle/>
          <a:p>
            <a:r>
              <a:rPr lang="en-US" altLang="zh-CN" sz="2400" b="1"/>
              <a:t>02.</a:t>
            </a:r>
            <a:endParaRPr lang="zh-CN" altLang="en-US" sz="2400" b="1"/>
          </a:p>
        </p:txBody>
      </p:sp>
      <p:sp>
        <p:nvSpPr>
          <p:cNvPr id="28" name="文本占位符 2">
            <a:extLst>
              <a:ext uri="{FF2B5EF4-FFF2-40B4-BE49-F238E27FC236}">
                <a16:creationId xmlns:a16="http://schemas.microsoft.com/office/drawing/2014/main" id="{C19A3F84-5B14-3C07-3F24-E4F163FA38D9}"/>
              </a:ext>
            </a:extLst>
          </p:cNvPr>
          <p:cNvSpPr txBox="1">
            <a:spLocks/>
          </p:cNvSpPr>
          <p:nvPr/>
        </p:nvSpPr>
        <p:spPr>
          <a:xfrm>
            <a:off x="307105" y="321896"/>
            <a:ext cx="2777442" cy="766762"/>
          </a:xfrm>
          <a:prstGeom prst="rect">
            <a:avLst/>
          </a:prstGeom>
        </p:spPr>
        <p:txBody>
          <a:bodyPr/>
          <a:lstStyle>
            <a:lvl1pPr marL="342900" indent="-342900" algn="l" rtl="0" eaLnBrk="0" fontAlgn="base" hangingPunct="0">
              <a:lnSpc>
                <a:spcPct val="120000"/>
              </a:lnSpc>
              <a:spcBef>
                <a:spcPct val="20000"/>
              </a:spcBef>
              <a:spcAft>
                <a:spcPct val="0"/>
              </a:spcAft>
              <a:buClr>
                <a:srgbClr val="FF0000"/>
              </a:buClr>
              <a:buFont typeface="Wingdings" panose="05000000000000000000" pitchFamily="2" charset="2"/>
              <a:buChar char="n"/>
              <a:defRPr sz="26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
                <a:srgbClr val="FF0000"/>
              </a:buClr>
              <a:buFont typeface="Wingdings" panose="05000000000000000000" pitchFamily="2" charset="2"/>
              <a:buChar char="p"/>
              <a:defRPr sz="2200">
                <a:solidFill>
                  <a:schemeClr val="tx1"/>
                </a:solidFill>
                <a:latin typeface="+mn-lt"/>
                <a:ea typeface="+mn-ea"/>
              </a:defRPr>
            </a:lvl2pPr>
            <a:lvl3pPr marL="1143000" indent="-228600" algn="l" rtl="0" eaLnBrk="0" fontAlgn="base" hangingPunct="0">
              <a:lnSpc>
                <a:spcPct val="120000"/>
              </a:lnSpc>
              <a:spcBef>
                <a:spcPct val="20000"/>
              </a:spcBef>
              <a:spcAft>
                <a:spcPct val="0"/>
              </a:spcAft>
              <a:buClr>
                <a:srgbClr val="FF0000"/>
              </a:buClr>
              <a:buFont typeface="Wingdings" panose="05000000000000000000" pitchFamily="2" charset="2"/>
              <a:buChar char="Ø"/>
              <a:defRPr>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0000"/>
              </a:buClr>
              <a:buFont typeface="Wingdings" panose="05000000000000000000" pitchFamily="2" charset="2"/>
              <a:buChar char="§"/>
              <a:defRPr sz="1600">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5pPr>
            <a:lvl6pPr marL="25146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6pPr>
            <a:lvl7pPr marL="29718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7pPr>
            <a:lvl8pPr marL="34290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8pPr>
            <a:lvl9pPr marL="38862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9pPr>
          </a:lstStyle>
          <a:p>
            <a:pPr marL="0" indent="0">
              <a:buNone/>
            </a:pPr>
            <a:r>
              <a:rPr lang="en-US" altLang="zh-CN" kern="0"/>
              <a:t>CONTENTS</a:t>
            </a:r>
            <a:endParaRPr lang="zh-CN" altLang="en-US" kern="0"/>
          </a:p>
        </p:txBody>
      </p:sp>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2</a:t>
            </a:fld>
            <a:endParaRPr lang="en-US" altLang="zh-CN"/>
          </a:p>
        </p:txBody>
      </p:sp>
      <p:grpSp>
        <p:nvGrpSpPr>
          <p:cNvPr id="23" name="组合 22"/>
          <p:cNvGrpSpPr/>
          <p:nvPr/>
        </p:nvGrpSpPr>
        <p:grpSpPr>
          <a:xfrm>
            <a:off x="369589" y="1070962"/>
            <a:ext cx="4542604" cy="4953321"/>
            <a:chOff x="0" y="1"/>
            <a:chExt cx="5199364" cy="6981487"/>
          </a:xfrm>
        </p:grpSpPr>
        <p:sp>
          <p:nvSpPr>
            <p:cNvPr id="40" name="TextBox 109"/>
            <p:cNvSpPr txBox="1">
              <a:spLocks noChangeArrowheads="1"/>
            </p:cNvSpPr>
            <p:nvPr/>
          </p:nvSpPr>
          <p:spPr bwMode="auto">
            <a:xfrm>
              <a:off x="4987925" y="1906587"/>
              <a:ext cx="211439" cy="8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
          <p:nvSpPr>
            <p:cNvPr id="41" name="Freeform 5"/>
            <p:cNvSpPr>
              <a:spLocks/>
            </p:cNvSpPr>
            <p:nvPr/>
          </p:nvSpPr>
          <p:spPr bwMode="auto">
            <a:xfrm>
              <a:off x="0" y="1"/>
              <a:ext cx="4262438" cy="6872288"/>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2" name="Freeform 6"/>
            <p:cNvSpPr>
              <a:spLocks/>
            </p:cNvSpPr>
            <p:nvPr/>
          </p:nvSpPr>
          <p:spPr bwMode="auto">
            <a:xfrm>
              <a:off x="3394076" y="1"/>
              <a:ext cx="1116013" cy="6872288"/>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rgbClr val="0098A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3" name="矩形 42"/>
            <p:cNvSpPr>
              <a:spLocks noChangeArrowheads="1"/>
            </p:cNvSpPr>
            <p:nvPr/>
          </p:nvSpPr>
          <p:spPr bwMode="auto">
            <a:xfrm>
              <a:off x="2641601" y="5938839"/>
              <a:ext cx="1733550" cy="782637"/>
            </a:xfrm>
            <a:prstGeom prst="rect">
              <a:avLst/>
            </a:prstGeom>
            <a:solidFill>
              <a:srgbClr val="0098A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4" name="TextBox 98"/>
            <p:cNvSpPr txBox="1">
              <a:spLocks noChangeArrowheads="1"/>
            </p:cNvSpPr>
            <p:nvPr/>
          </p:nvSpPr>
          <p:spPr bwMode="auto">
            <a:xfrm>
              <a:off x="2801939" y="5978524"/>
              <a:ext cx="846192" cy="62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zh-CN" altLang="en-US" sz="2160">
                  <a:solidFill>
                    <a:srgbClr val="FFFFFF"/>
                  </a:solidFill>
                  <a:latin typeface="微软雅黑" panose="020B0503020204020204" pitchFamily="34" charset="-122"/>
                  <a:ea typeface="微软雅黑" panose="020B0503020204020204" pitchFamily="34" charset="-122"/>
                </a:rPr>
                <a:t>大纲</a:t>
              </a:r>
            </a:p>
          </p:txBody>
        </p:sp>
        <p:sp>
          <p:nvSpPr>
            <p:cNvPr id="45" name="TextBox 104"/>
            <p:cNvSpPr txBox="1">
              <a:spLocks noChangeArrowheads="1"/>
            </p:cNvSpPr>
            <p:nvPr/>
          </p:nvSpPr>
          <p:spPr bwMode="auto">
            <a:xfrm>
              <a:off x="2855914" y="6361112"/>
              <a:ext cx="1573785" cy="62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2160" dirty="0">
                  <a:solidFill>
                    <a:srgbClr val="FFFFFF"/>
                  </a:solidFill>
                  <a:latin typeface="微软雅黑" panose="020B0503020204020204" pitchFamily="34" charset="-122"/>
                  <a:ea typeface="微软雅黑" panose="020B0503020204020204" pitchFamily="34" charset="-122"/>
                </a:rPr>
                <a:t>Contents</a:t>
              </a:r>
              <a:endParaRPr lang="zh-CN" altLang="en-US" sz="2160" dirty="0">
                <a:solidFill>
                  <a:srgbClr val="FFFFFF"/>
                </a:solidFill>
                <a:latin typeface="微软雅黑" panose="020B0503020204020204" pitchFamily="34" charset="-122"/>
                <a:ea typeface="微软雅黑" panose="020B0503020204020204" pitchFamily="34" charset="-122"/>
              </a:endParaRPr>
            </a:p>
          </p:txBody>
        </p:sp>
      </p:grpSp>
      <p:sp>
        <p:nvSpPr>
          <p:cNvPr id="24" name="Freeform 11"/>
          <p:cNvSpPr>
            <a:spLocks/>
          </p:cNvSpPr>
          <p:nvPr/>
        </p:nvSpPr>
        <p:spPr bwMode="auto">
          <a:xfrm>
            <a:off x="4469275" y="3186741"/>
            <a:ext cx="779480" cy="77167"/>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5" name="Freeform 10"/>
          <p:cNvSpPr>
            <a:spLocks/>
          </p:cNvSpPr>
          <p:nvPr/>
        </p:nvSpPr>
        <p:spPr bwMode="auto">
          <a:xfrm>
            <a:off x="4309984" y="3253176"/>
            <a:ext cx="5847484" cy="480393"/>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6" name="Rectangle 12"/>
          <p:cNvSpPr>
            <a:spLocks noChangeArrowheads="1"/>
          </p:cNvSpPr>
          <p:nvPr/>
        </p:nvSpPr>
        <p:spPr bwMode="auto">
          <a:xfrm>
            <a:off x="4542100" y="3200038"/>
            <a:ext cx="629686" cy="505390"/>
          </a:xfrm>
          <a:prstGeom prst="rect">
            <a:avLst/>
          </a:prstGeom>
          <a:solidFill>
            <a:srgbClr val="0095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7" name="TextBox 115"/>
          <p:cNvSpPr txBox="1">
            <a:spLocks noChangeArrowheads="1"/>
          </p:cNvSpPr>
          <p:nvPr/>
        </p:nvSpPr>
        <p:spPr bwMode="auto">
          <a:xfrm>
            <a:off x="5350013" y="3291078"/>
            <a:ext cx="2159566"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920" b="1" dirty="0" smtClean="0">
                <a:solidFill>
                  <a:srgbClr val="3C3C3C"/>
                </a:solidFill>
                <a:latin typeface="微软雅黑" panose="020B0503020204020204" pitchFamily="34" charset="-122"/>
                <a:ea typeface="微软雅黑" panose="020B0503020204020204" pitchFamily="34" charset="-122"/>
              </a:rPr>
              <a:t>文件系统基本组成</a:t>
            </a:r>
            <a:endParaRPr lang="zh-CN" altLang="en-US" sz="1920" b="1" dirty="0">
              <a:solidFill>
                <a:srgbClr val="3C3C3C"/>
              </a:solidFill>
              <a:latin typeface="微软雅黑" panose="020B0503020204020204" pitchFamily="34" charset="-122"/>
              <a:ea typeface="微软雅黑" panose="020B0503020204020204" pitchFamily="34" charset="-122"/>
            </a:endParaRPr>
          </a:p>
        </p:txBody>
      </p:sp>
      <p:sp>
        <p:nvSpPr>
          <p:cNvPr id="29" name="TextBox 116"/>
          <p:cNvSpPr txBox="1">
            <a:spLocks noChangeArrowheads="1"/>
          </p:cNvSpPr>
          <p:nvPr/>
        </p:nvSpPr>
        <p:spPr bwMode="auto">
          <a:xfrm>
            <a:off x="4638303" y="3180214"/>
            <a:ext cx="450764" cy="60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3361" b="1" dirty="0">
                <a:solidFill>
                  <a:srgbClr val="FFFFFF"/>
                </a:solidFill>
                <a:latin typeface="微软雅黑" panose="020B0503020204020204" pitchFamily="34" charset="-122"/>
                <a:ea typeface="微软雅黑" panose="020B0503020204020204" pitchFamily="34" charset="-122"/>
              </a:rPr>
              <a:t>2</a:t>
            </a: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
        <p:nvSpPr>
          <p:cNvPr id="30" name="Freeform 11"/>
          <p:cNvSpPr>
            <a:spLocks/>
          </p:cNvSpPr>
          <p:nvPr/>
        </p:nvSpPr>
        <p:spPr bwMode="auto">
          <a:xfrm>
            <a:off x="4469275" y="2255810"/>
            <a:ext cx="779480" cy="77167"/>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31" name="Freeform 10"/>
          <p:cNvSpPr>
            <a:spLocks/>
          </p:cNvSpPr>
          <p:nvPr/>
        </p:nvSpPr>
        <p:spPr bwMode="auto">
          <a:xfrm>
            <a:off x="4309984" y="2322245"/>
            <a:ext cx="5847484" cy="480393"/>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32" name="Rectangle 12"/>
          <p:cNvSpPr>
            <a:spLocks noChangeArrowheads="1"/>
          </p:cNvSpPr>
          <p:nvPr/>
        </p:nvSpPr>
        <p:spPr bwMode="auto">
          <a:xfrm>
            <a:off x="4542100" y="2269107"/>
            <a:ext cx="629686" cy="505390"/>
          </a:xfrm>
          <a:prstGeom prst="rect">
            <a:avLst/>
          </a:prstGeom>
          <a:solidFill>
            <a:srgbClr val="0095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33" name="TextBox 115"/>
          <p:cNvSpPr txBox="1">
            <a:spLocks noChangeArrowheads="1"/>
          </p:cNvSpPr>
          <p:nvPr/>
        </p:nvSpPr>
        <p:spPr bwMode="auto">
          <a:xfrm>
            <a:off x="5350013" y="2393130"/>
            <a:ext cx="2159566"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920" b="1" dirty="0" smtClean="0">
                <a:latin typeface="微软雅黑" panose="020B0503020204020204" pitchFamily="34" charset="-122"/>
                <a:ea typeface="微软雅黑" panose="020B0503020204020204" pitchFamily="34" charset="-122"/>
              </a:rPr>
              <a:t>文件系统基础知识</a:t>
            </a:r>
            <a:endParaRPr lang="zh-CN" altLang="en-US" sz="1920" b="1" dirty="0">
              <a:latin typeface="微软雅黑" panose="020B0503020204020204" pitchFamily="34" charset="-122"/>
              <a:ea typeface="微软雅黑" panose="020B0503020204020204" pitchFamily="34" charset="-122"/>
            </a:endParaRPr>
          </a:p>
        </p:txBody>
      </p:sp>
      <p:sp>
        <p:nvSpPr>
          <p:cNvPr id="34" name="TextBox 116"/>
          <p:cNvSpPr txBox="1">
            <a:spLocks noChangeArrowheads="1"/>
          </p:cNvSpPr>
          <p:nvPr/>
        </p:nvSpPr>
        <p:spPr bwMode="auto">
          <a:xfrm>
            <a:off x="4638303" y="2249283"/>
            <a:ext cx="450764" cy="60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3361" b="1" dirty="0">
                <a:solidFill>
                  <a:srgbClr val="FFFFFF"/>
                </a:solidFill>
                <a:latin typeface="微软雅黑" panose="020B0503020204020204" pitchFamily="34" charset="-122"/>
                <a:ea typeface="微软雅黑" panose="020B0503020204020204" pitchFamily="34" charset="-122"/>
              </a:rPr>
              <a:t>1</a:t>
            </a: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630BB524-A2F5-9E9C-9442-75D8EB6A8585}"/>
              </a:ext>
            </a:extLst>
          </p:cNvPr>
          <p:cNvSpPr txBox="1"/>
          <p:nvPr/>
        </p:nvSpPr>
        <p:spPr>
          <a:xfrm>
            <a:off x="8544272" y="4260946"/>
            <a:ext cx="612668" cy="461665"/>
          </a:xfrm>
          <a:prstGeom prst="rect">
            <a:avLst/>
          </a:prstGeom>
          <a:noFill/>
        </p:spPr>
        <p:txBody>
          <a:bodyPr wrap="none" rtlCol="0">
            <a:spAutoFit/>
          </a:bodyPr>
          <a:lstStyle/>
          <a:p>
            <a:r>
              <a:rPr lang="en-US" altLang="zh-CN" sz="2400" b="1"/>
              <a:t>02.</a:t>
            </a:r>
            <a:endParaRPr lang="zh-CN" altLang="en-US" sz="2400" b="1"/>
          </a:p>
        </p:txBody>
      </p:sp>
      <p:sp>
        <p:nvSpPr>
          <p:cNvPr id="47" name="Freeform 11"/>
          <p:cNvSpPr>
            <a:spLocks/>
          </p:cNvSpPr>
          <p:nvPr/>
        </p:nvSpPr>
        <p:spPr bwMode="auto">
          <a:xfrm>
            <a:off x="4469275" y="4149844"/>
            <a:ext cx="779480" cy="77167"/>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8" name="Freeform 10"/>
          <p:cNvSpPr>
            <a:spLocks/>
          </p:cNvSpPr>
          <p:nvPr/>
        </p:nvSpPr>
        <p:spPr bwMode="auto">
          <a:xfrm>
            <a:off x="4309984" y="4216279"/>
            <a:ext cx="5847484" cy="480393"/>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9" name="Rectangle 12"/>
          <p:cNvSpPr>
            <a:spLocks noChangeArrowheads="1"/>
          </p:cNvSpPr>
          <p:nvPr/>
        </p:nvSpPr>
        <p:spPr bwMode="auto">
          <a:xfrm>
            <a:off x="4542100" y="4163141"/>
            <a:ext cx="629686" cy="505390"/>
          </a:xfrm>
          <a:prstGeom prst="rect">
            <a:avLst/>
          </a:prstGeom>
          <a:solidFill>
            <a:srgbClr val="0095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50" name="TextBox 115"/>
          <p:cNvSpPr txBox="1">
            <a:spLocks noChangeArrowheads="1"/>
          </p:cNvSpPr>
          <p:nvPr/>
        </p:nvSpPr>
        <p:spPr bwMode="auto">
          <a:xfrm>
            <a:off x="5350013" y="4254181"/>
            <a:ext cx="678391"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920" b="1" dirty="0">
                <a:solidFill>
                  <a:srgbClr val="3C3C3C"/>
                </a:solidFill>
                <a:latin typeface="微软雅黑" panose="020B0503020204020204" pitchFamily="34" charset="-122"/>
                <a:ea typeface="微软雅黑" panose="020B0503020204020204" pitchFamily="34" charset="-122"/>
              </a:rPr>
              <a:t>总结</a:t>
            </a:r>
          </a:p>
        </p:txBody>
      </p:sp>
      <p:sp>
        <p:nvSpPr>
          <p:cNvPr id="51" name="TextBox 116"/>
          <p:cNvSpPr txBox="1">
            <a:spLocks noChangeArrowheads="1"/>
          </p:cNvSpPr>
          <p:nvPr/>
        </p:nvSpPr>
        <p:spPr bwMode="auto">
          <a:xfrm>
            <a:off x="4638303" y="4143317"/>
            <a:ext cx="450764" cy="60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3361" b="1" dirty="0">
                <a:solidFill>
                  <a:srgbClr val="FFFFFF"/>
                </a:solidFill>
                <a:latin typeface="微软雅黑" panose="020B0503020204020204" pitchFamily="34" charset="-122"/>
                <a:ea typeface="微软雅黑" panose="020B0503020204020204" pitchFamily="34" charset="-122"/>
              </a:rPr>
              <a:t>3</a:t>
            </a: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307250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a:extLst>
              <a:ext uri="{FF2B5EF4-FFF2-40B4-BE49-F238E27FC236}">
                <a16:creationId xmlns:a16="http://schemas.microsoft.com/office/drawing/2014/main" id="{630BB524-A2F5-9E9C-9442-75D8EB6A8585}"/>
              </a:ext>
            </a:extLst>
          </p:cNvPr>
          <p:cNvSpPr txBox="1"/>
          <p:nvPr/>
        </p:nvSpPr>
        <p:spPr>
          <a:xfrm>
            <a:off x="8544272" y="3297843"/>
            <a:ext cx="612668" cy="461665"/>
          </a:xfrm>
          <a:prstGeom prst="rect">
            <a:avLst/>
          </a:prstGeom>
          <a:noFill/>
        </p:spPr>
        <p:txBody>
          <a:bodyPr wrap="none" rtlCol="0">
            <a:spAutoFit/>
          </a:bodyPr>
          <a:lstStyle/>
          <a:p>
            <a:r>
              <a:rPr lang="en-US" altLang="zh-CN" sz="2400" b="1"/>
              <a:t>02.</a:t>
            </a:r>
            <a:endParaRPr lang="zh-CN" altLang="en-US" sz="2400" b="1"/>
          </a:p>
        </p:txBody>
      </p:sp>
      <p:sp>
        <p:nvSpPr>
          <p:cNvPr id="28" name="文本占位符 2">
            <a:extLst>
              <a:ext uri="{FF2B5EF4-FFF2-40B4-BE49-F238E27FC236}">
                <a16:creationId xmlns:a16="http://schemas.microsoft.com/office/drawing/2014/main" id="{C19A3F84-5B14-3C07-3F24-E4F163FA38D9}"/>
              </a:ext>
            </a:extLst>
          </p:cNvPr>
          <p:cNvSpPr txBox="1">
            <a:spLocks/>
          </p:cNvSpPr>
          <p:nvPr/>
        </p:nvSpPr>
        <p:spPr>
          <a:xfrm>
            <a:off x="307105" y="321896"/>
            <a:ext cx="2777442" cy="766762"/>
          </a:xfrm>
          <a:prstGeom prst="rect">
            <a:avLst/>
          </a:prstGeom>
        </p:spPr>
        <p:txBody>
          <a:bodyPr/>
          <a:lstStyle>
            <a:lvl1pPr marL="342900" indent="-342900" algn="l" rtl="0" eaLnBrk="0" fontAlgn="base" hangingPunct="0">
              <a:lnSpc>
                <a:spcPct val="120000"/>
              </a:lnSpc>
              <a:spcBef>
                <a:spcPct val="20000"/>
              </a:spcBef>
              <a:spcAft>
                <a:spcPct val="0"/>
              </a:spcAft>
              <a:buClr>
                <a:srgbClr val="FF0000"/>
              </a:buClr>
              <a:buFont typeface="Wingdings" panose="05000000000000000000" pitchFamily="2" charset="2"/>
              <a:buChar char="n"/>
              <a:defRPr sz="26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
                <a:srgbClr val="FF0000"/>
              </a:buClr>
              <a:buFont typeface="Wingdings" panose="05000000000000000000" pitchFamily="2" charset="2"/>
              <a:buChar char="p"/>
              <a:defRPr sz="2200">
                <a:solidFill>
                  <a:schemeClr val="tx1"/>
                </a:solidFill>
                <a:latin typeface="+mn-lt"/>
                <a:ea typeface="+mn-ea"/>
              </a:defRPr>
            </a:lvl2pPr>
            <a:lvl3pPr marL="1143000" indent="-228600" algn="l" rtl="0" eaLnBrk="0" fontAlgn="base" hangingPunct="0">
              <a:lnSpc>
                <a:spcPct val="120000"/>
              </a:lnSpc>
              <a:spcBef>
                <a:spcPct val="20000"/>
              </a:spcBef>
              <a:spcAft>
                <a:spcPct val="0"/>
              </a:spcAft>
              <a:buClr>
                <a:srgbClr val="FF0000"/>
              </a:buClr>
              <a:buFont typeface="Wingdings" panose="05000000000000000000" pitchFamily="2" charset="2"/>
              <a:buChar char="Ø"/>
              <a:defRPr>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0000"/>
              </a:buClr>
              <a:buFont typeface="Wingdings" panose="05000000000000000000" pitchFamily="2" charset="2"/>
              <a:buChar char="§"/>
              <a:defRPr sz="1600">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5pPr>
            <a:lvl6pPr marL="25146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6pPr>
            <a:lvl7pPr marL="29718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7pPr>
            <a:lvl8pPr marL="34290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8pPr>
            <a:lvl9pPr marL="38862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9pPr>
          </a:lstStyle>
          <a:p>
            <a:pPr marL="0" indent="0">
              <a:buNone/>
            </a:pPr>
            <a:r>
              <a:rPr lang="en-US" altLang="zh-CN" kern="0"/>
              <a:t>CONTENTS</a:t>
            </a:r>
            <a:endParaRPr lang="zh-CN" altLang="en-US" kern="0"/>
          </a:p>
        </p:txBody>
      </p:sp>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3</a:t>
            </a:fld>
            <a:endParaRPr lang="en-US" altLang="zh-CN"/>
          </a:p>
        </p:txBody>
      </p:sp>
      <p:grpSp>
        <p:nvGrpSpPr>
          <p:cNvPr id="23" name="组合 22"/>
          <p:cNvGrpSpPr/>
          <p:nvPr/>
        </p:nvGrpSpPr>
        <p:grpSpPr>
          <a:xfrm>
            <a:off x="369589" y="1070962"/>
            <a:ext cx="4542604" cy="4953321"/>
            <a:chOff x="0" y="1"/>
            <a:chExt cx="5199364" cy="6981487"/>
          </a:xfrm>
        </p:grpSpPr>
        <p:sp>
          <p:nvSpPr>
            <p:cNvPr id="40" name="TextBox 109"/>
            <p:cNvSpPr txBox="1">
              <a:spLocks noChangeArrowheads="1"/>
            </p:cNvSpPr>
            <p:nvPr/>
          </p:nvSpPr>
          <p:spPr bwMode="auto">
            <a:xfrm>
              <a:off x="4987925" y="1906587"/>
              <a:ext cx="211439" cy="8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
          <p:nvSpPr>
            <p:cNvPr id="41" name="Freeform 5"/>
            <p:cNvSpPr>
              <a:spLocks/>
            </p:cNvSpPr>
            <p:nvPr/>
          </p:nvSpPr>
          <p:spPr bwMode="auto">
            <a:xfrm>
              <a:off x="0" y="1"/>
              <a:ext cx="4262438" cy="6872288"/>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2" name="Freeform 6"/>
            <p:cNvSpPr>
              <a:spLocks/>
            </p:cNvSpPr>
            <p:nvPr/>
          </p:nvSpPr>
          <p:spPr bwMode="auto">
            <a:xfrm>
              <a:off x="3394076" y="1"/>
              <a:ext cx="1116013" cy="6872288"/>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rgbClr val="0098A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3" name="矩形 42"/>
            <p:cNvSpPr>
              <a:spLocks noChangeArrowheads="1"/>
            </p:cNvSpPr>
            <p:nvPr/>
          </p:nvSpPr>
          <p:spPr bwMode="auto">
            <a:xfrm>
              <a:off x="2641601" y="5938839"/>
              <a:ext cx="1733550" cy="782637"/>
            </a:xfrm>
            <a:prstGeom prst="rect">
              <a:avLst/>
            </a:prstGeom>
            <a:solidFill>
              <a:srgbClr val="0098A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4" name="TextBox 98"/>
            <p:cNvSpPr txBox="1">
              <a:spLocks noChangeArrowheads="1"/>
            </p:cNvSpPr>
            <p:nvPr/>
          </p:nvSpPr>
          <p:spPr bwMode="auto">
            <a:xfrm>
              <a:off x="2801939" y="5978524"/>
              <a:ext cx="846192" cy="62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zh-CN" altLang="en-US" sz="2160">
                  <a:solidFill>
                    <a:srgbClr val="FFFFFF"/>
                  </a:solidFill>
                  <a:latin typeface="微软雅黑" panose="020B0503020204020204" pitchFamily="34" charset="-122"/>
                  <a:ea typeface="微软雅黑" panose="020B0503020204020204" pitchFamily="34" charset="-122"/>
                </a:rPr>
                <a:t>大纲</a:t>
              </a:r>
            </a:p>
          </p:txBody>
        </p:sp>
        <p:sp>
          <p:nvSpPr>
            <p:cNvPr id="45" name="TextBox 104"/>
            <p:cNvSpPr txBox="1">
              <a:spLocks noChangeArrowheads="1"/>
            </p:cNvSpPr>
            <p:nvPr/>
          </p:nvSpPr>
          <p:spPr bwMode="auto">
            <a:xfrm>
              <a:off x="2855914" y="6361112"/>
              <a:ext cx="1573785" cy="62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2160" dirty="0">
                  <a:solidFill>
                    <a:srgbClr val="FFFFFF"/>
                  </a:solidFill>
                  <a:latin typeface="微软雅黑" panose="020B0503020204020204" pitchFamily="34" charset="-122"/>
                  <a:ea typeface="微软雅黑" panose="020B0503020204020204" pitchFamily="34" charset="-122"/>
                </a:rPr>
                <a:t>Contents</a:t>
              </a:r>
              <a:endParaRPr lang="zh-CN" altLang="en-US" sz="2160" dirty="0">
                <a:solidFill>
                  <a:srgbClr val="FFFFFF"/>
                </a:solidFill>
                <a:latin typeface="微软雅黑" panose="020B0503020204020204" pitchFamily="34" charset="-122"/>
                <a:ea typeface="微软雅黑" panose="020B0503020204020204" pitchFamily="34" charset="-122"/>
              </a:endParaRPr>
            </a:p>
          </p:txBody>
        </p:sp>
      </p:grpSp>
      <p:sp>
        <p:nvSpPr>
          <p:cNvPr id="24" name="Freeform 11"/>
          <p:cNvSpPr>
            <a:spLocks/>
          </p:cNvSpPr>
          <p:nvPr/>
        </p:nvSpPr>
        <p:spPr bwMode="auto">
          <a:xfrm>
            <a:off x="4469275" y="3186741"/>
            <a:ext cx="779480" cy="77167"/>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5" name="Freeform 10"/>
          <p:cNvSpPr>
            <a:spLocks/>
          </p:cNvSpPr>
          <p:nvPr/>
        </p:nvSpPr>
        <p:spPr bwMode="auto">
          <a:xfrm>
            <a:off x="4309984" y="3253176"/>
            <a:ext cx="5847484" cy="480393"/>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6" name="Rectangle 12"/>
          <p:cNvSpPr>
            <a:spLocks noChangeArrowheads="1"/>
          </p:cNvSpPr>
          <p:nvPr/>
        </p:nvSpPr>
        <p:spPr bwMode="auto">
          <a:xfrm>
            <a:off x="4542100" y="3200038"/>
            <a:ext cx="629686" cy="505390"/>
          </a:xfrm>
          <a:prstGeom prst="rect">
            <a:avLst/>
          </a:prstGeom>
          <a:solidFill>
            <a:srgbClr val="0095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7" name="TextBox 115"/>
          <p:cNvSpPr txBox="1">
            <a:spLocks noChangeArrowheads="1"/>
          </p:cNvSpPr>
          <p:nvPr/>
        </p:nvSpPr>
        <p:spPr bwMode="auto">
          <a:xfrm>
            <a:off x="5350013" y="3291078"/>
            <a:ext cx="2159566"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920" b="1" dirty="0" smtClean="0">
                <a:solidFill>
                  <a:srgbClr val="3C3C3C"/>
                </a:solidFill>
                <a:latin typeface="微软雅黑" panose="020B0503020204020204" pitchFamily="34" charset="-122"/>
                <a:ea typeface="微软雅黑" panose="020B0503020204020204" pitchFamily="34" charset="-122"/>
              </a:rPr>
              <a:t>文件系统基础知识</a:t>
            </a:r>
            <a:endParaRPr lang="zh-CN" altLang="en-US" sz="1920" b="1" dirty="0">
              <a:solidFill>
                <a:srgbClr val="3C3C3C"/>
              </a:solidFill>
              <a:latin typeface="微软雅黑" panose="020B0503020204020204" pitchFamily="34" charset="-122"/>
              <a:ea typeface="微软雅黑" panose="020B0503020204020204" pitchFamily="34" charset="-122"/>
            </a:endParaRPr>
          </a:p>
        </p:txBody>
      </p:sp>
      <p:sp>
        <p:nvSpPr>
          <p:cNvPr id="29" name="TextBox 116"/>
          <p:cNvSpPr txBox="1">
            <a:spLocks noChangeArrowheads="1"/>
          </p:cNvSpPr>
          <p:nvPr/>
        </p:nvSpPr>
        <p:spPr bwMode="auto">
          <a:xfrm>
            <a:off x="4638303" y="3180214"/>
            <a:ext cx="450764" cy="60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3361" b="1" dirty="0">
                <a:solidFill>
                  <a:srgbClr val="FFFFFF"/>
                </a:solidFill>
                <a:latin typeface="微软雅黑" panose="020B0503020204020204" pitchFamily="34" charset="-122"/>
                <a:ea typeface="微软雅黑" panose="020B0503020204020204" pitchFamily="34" charset="-122"/>
              </a:rPr>
              <a:t>1</a:t>
            </a: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5772347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4</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1</a:t>
            </a:r>
            <a:r>
              <a:rPr lang="en-US" altLang="zh-CN" sz="2400" dirty="0" smtClean="0">
                <a:latin typeface="+mj-ea"/>
                <a:ea typeface="+mj-ea"/>
              </a:rPr>
              <a:t>. </a:t>
            </a:r>
            <a:r>
              <a:rPr lang="zh-CN" altLang="en-US" sz="2400" dirty="0" smtClean="0">
                <a:latin typeface="+mj-ea"/>
                <a:ea typeface="+mj-ea"/>
              </a:rPr>
              <a:t>文件系统基础知识</a:t>
            </a:r>
            <a:endParaRPr lang="en-US" altLang="zh-CN" sz="2400" dirty="0">
              <a:latin typeface="+mj-ea"/>
              <a:ea typeface="+mj-ea"/>
            </a:endParaRPr>
          </a:p>
        </p:txBody>
      </p:sp>
      <p:sp>
        <p:nvSpPr>
          <p:cNvPr id="4" name="矩形 3"/>
          <p:cNvSpPr/>
          <p:nvPr/>
        </p:nvSpPr>
        <p:spPr>
          <a:xfrm>
            <a:off x="839416" y="1052736"/>
            <a:ext cx="1579278" cy="369332"/>
          </a:xfrm>
          <a:prstGeom prst="rect">
            <a:avLst/>
          </a:prstGeom>
        </p:spPr>
        <p:txBody>
          <a:bodyPr wrap="none">
            <a:spAutoFit/>
          </a:bodyPr>
          <a:lstStyle/>
          <a:p>
            <a:r>
              <a:rPr lang="zh-CN" altLang="en-US" b="1" dirty="0" smtClean="0"/>
              <a:t>文件系统定义</a:t>
            </a:r>
            <a:endParaRPr lang="zh-CN" altLang="en-US" b="1" dirty="0"/>
          </a:p>
        </p:txBody>
      </p:sp>
      <p:sp>
        <p:nvSpPr>
          <p:cNvPr id="12" name="矩形 11"/>
          <p:cNvSpPr/>
          <p:nvPr/>
        </p:nvSpPr>
        <p:spPr>
          <a:xfrm>
            <a:off x="839416" y="1772816"/>
            <a:ext cx="9937104" cy="1477328"/>
          </a:xfrm>
          <a:prstGeom prst="rect">
            <a:avLst/>
          </a:prstGeom>
        </p:spPr>
        <p:txBody>
          <a:bodyPr vert="horz" wrap="square">
            <a:spAutoFit/>
          </a:bodyPr>
          <a:lstStyle/>
          <a:p>
            <a:pPr>
              <a:spcBef>
                <a:spcPct val="30000"/>
              </a:spcBef>
              <a:defRPr/>
            </a:pPr>
            <a:r>
              <a:rPr lang="zh-CN" altLang="en-US" dirty="0" smtClean="0"/>
              <a:t>      操作系统</a:t>
            </a:r>
            <a:r>
              <a:rPr lang="zh-CN" altLang="en-US" dirty="0"/>
              <a:t>中负责管理和</a:t>
            </a:r>
            <a:r>
              <a:rPr lang="zh-CN" altLang="en-US" dirty="0">
                <a:hlinkClick r:id="rId3"/>
              </a:rPr>
              <a:t>存储文件</a:t>
            </a:r>
            <a:r>
              <a:rPr lang="zh-CN" altLang="en-US" dirty="0"/>
              <a:t>信息的软件机构称为</a:t>
            </a:r>
            <a:r>
              <a:rPr lang="zh-CN" altLang="en-US" dirty="0">
                <a:hlinkClick r:id="rId4"/>
              </a:rPr>
              <a:t>文件管理系统</a:t>
            </a:r>
            <a:r>
              <a:rPr lang="zh-CN" altLang="en-US" dirty="0"/>
              <a:t>，简称文件系统。文件系统由三部分组成：文件系统的接口，对对象操纵和管理的软件集合，对象及属性。从系统角度来看，文件系统是对文件存储设备的空间进行组织和分配，负责文件存储并对存入的文件进行保护和检索的系统。具体地说，它负责为用户建立文件，存入、读出、修改、转储文件，</a:t>
            </a:r>
            <a:r>
              <a:rPr lang="zh-CN" altLang="en-US" dirty="0">
                <a:hlinkClick r:id="rId5"/>
              </a:rPr>
              <a:t>控制文件</a:t>
            </a:r>
            <a:r>
              <a:rPr lang="zh-CN" altLang="en-US" dirty="0"/>
              <a:t>的存取，当用户不再使用时撤销文件等。</a:t>
            </a:r>
            <a:endParaRPr lang="en-US" altLang="zh-CN" dirty="0"/>
          </a:p>
        </p:txBody>
      </p:sp>
    </p:spTree>
    <p:extLst>
      <p:ext uri="{BB962C8B-B14F-4D97-AF65-F5344CB8AC3E}">
        <p14:creationId xmlns:p14="http://schemas.microsoft.com/office/powerpoint/2010/main" val="4001906236"/>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5</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1</a:t>
            </a:r>
            <a:r>
              <a:rPr lang="en-US" altLang="zh-CN" sz="2400" dirty="0" smtClean="0">
                <a:latin typeface="+mj-ea"/>
                <a:ea typeface="+mj-ea"/>
              </a:rPr>
              <a:t>. </a:t>
            </a:r>
            <a:r>
              <a:rPr lang="zh-CN" altLang="en-US" sz="2400" dirty="0" smtClean="0">
                <a:latin typeface="+mj-ea"/>
                <a:ea typeface="+mj-ea"/>
              </a:rPr>
              <a:t>文件系统基础知识</a:t>
            </a:r>
            <a:endParaRPr lang="en-US" altLang="zh-CN" sz="2400" dirty="0">
              <a:latin typeface="+mj-ea"/>
              <a:ea typeface="+mj-ea"/>
            </a:endParaRPr>
          </a:p>
        </p:txBody>
      </p:sp>
      <p:sp>
        <p:nvSpPr>
          <p:cNvPr id="4" name="矩形 3"/>
          <p:cNvSpPr/>
          <p:nvPr/>
        </p:nvSpPr>
        <p:spPr>
          <a:xfrm>
            <a:off x="839416" y="1052736"/>
            <a:ext cx="1579278" cy="369332"/>
          </a:xfrm>
          <a:prstGeom prst="rect">
            <a:avLst/>
          </a:prstGeom>
        </p:spPr>
        <p:txBody>
          <a:bodyPr wrap="none">
            <a:spAutoFit/>
          </a:bodyPr>
          <a:lstStyle/>
          <a:p>
            <a:r>
              <a:rPr lang="zh-CN" altLang="en-US" b="1" dirty="0" smtClean="0"/>
              <a:t>文件系统种类</a:t>
            </a:r>
            <a:endParaRPr lang="zh-CN" altLang="en-US" b="1" dirty="0"/>
          </a:p>
        </p:txBody>
      </p:sp>
      <p:sp>
        <p:nvSpPr>
          <p:cNvPr id="12" name="矩形 11"/>
          <p:cNvSpPr/>
          <p:nvPr/>
        </p:nvSpPr>
        <p:spPr>
          <a:xfrm>
            <a:off x="626482" y="1772817"/>
            <a:ext cx="10798110" cy="4524315"/>
          </a:xfrm>
          <a:prstGeom prst="rect">
            <a:avLst/>
          </a:prstGeom>
        </p:spPr>
        <p:txBody>
          <a:bodyPr vert="horz" wrap="square">
            <a:spAutoFit/>
          </a:bodyPr>
          <a:lstStyle/>
          <a:p>
            <a:pPr latinLnBrk="1"/>
            <a:r>
              <a:rPr lang="en-US" altLang="zh-CN" dirty="0" smtClean="0"/>
              <a:t>Linux</a:t>
            </a:r>
            <a:r>
              <a:rPr lang="zh-CN" altLang="en-US" dirty="0" smtClean="0"/>
              <a:t>：</a:t>
            </a:r>
            <a:endParaRPr lang="en-US" altLang="zh-CN" dirty="0" smtClean="0"/>
          </a:p>
          <a:p>
            <a:pPr latinLnBrk="1"/>
            <a:r>
              <a:rPr lang="en-US" altLang="zh-CN" dirty="0" smtClean="0"/>
              <a:t>1. ext2</a:t>
            </a:r>
            <a:r>
              <a:rPr lang="zh-CN" altLang="en-US" dirty="0"/>
              <a:t>具有极快的速度和极小的</a:t>
            </a:r>
            <a:r>
              <a:rPr lang="en-US" altLang="zh-CN" dirty="0"/>
              <a:t>CPU</a:t>
            </a:r>
            <a:r>
              <a:rPr lang="zh-CN" altLang="en-US" dirty="0"/>
              <a:t>占用率，可用于硬盘和移动存储设备</a:t>
            </a:r>
          </a:p>
          <a:p>
            <a:pPr latinLnBrk="1"/>
            <a:r>
              <a:rPr lang="en-US" altLang="zh-CN" dirty="0" smtClean="0"/>
              <a:t>2. ext3</a:t>
            </a:r>
            <a:r>
              <a:rPr lang="zh-CN" altLang="en-US" dirty="0"/>
              <a:t>增加日志功能，可回溯追踪</a:t>
            </a:r>
          </a:p>
          <a:p>
            <a:pPr latinLnBrk="1"/>
            <a:r>
              <a:rPr lang="en-US" altLang="zh-CN" dirty="0" smtClean="0"/>
              <a:t>3. ext4</a:t>
            </a:r>
            <a:r>
              <a:rPr lang="zh-CN" altLang="en-US" dirty="0"/>
              <a:t>日志式文件系统，支持</a:t>
            </a:r>
            <a:r>
              <a:rPr lang="en-US" altLang="zh-CN" dirty="0"/>
              <a:t>1EB</a:t>
            </a:r>
            <a:r>
              <a:rPr lang="zh-CN" altLang="en-US" dirty="0"/>
              <a:t>（</a:t>
            </a:r>
            <a:r>
              <a:rPr lang="en-US" altLang="zh-CN" dirty="0"/>
              <a:t>1024*1024TB</a:t>
            </a:r>
            <a:r>
              <a:rPr lang="zh-CN" altLang="en-US" dirty="0"/>
              <a:t>），最大单文件</a:t>
            </a:r>
            <a:r>
              <a:rPr lang="en-US" altLang="zh-CN" dirty="0"/>
              <a:t>16TB</a:t>
            </a:r>
            <a:r>
              <a:rPr lang="zh-CN" altLang="en-US" dirty="0"/>
              <a:t>，支持连续写入可减少文件碎片</a:t>
            </a:r>
            <a:r>
              <a:rPr lang="zh-CN" altLang="en-US" dirty="0" smtClean="0"/>
              <a:t>。</a:t>
            </a:r>
            <a:r>
              <a:rPr lang="en-US" altLang="zh-CN" dirty="0" smtClean="0"/>
              <a:t>4</a:t>
            </a:r>
            <a:r>
              <a:rPr lang="en-US" altLang="zh-CN" dirty="0" smtClean="0"/>
              <a:t>. </a:t>
            </a:r>
            <a:r>
              <a:rPr lang="en-US" altLang="zh-CN" dirty="0" err="1" smtClean="0"/>
              <a:t>xfs</a:t>
            </a:r>
            <a:r>
              <a:rPr lang="zh-CN" altLang="en-US" dirty="0"/>
              <a:t>可以管理</a:t>
            </a:r>
            <a:r>
              <a:rPr lang="en-US" altLang="zh-CN" dirty="0"/>
              <a:t>500T</a:t>
            </a:r>
            <a:r>
              <a:rPr lang="zh-CN" altLang="en-US" dirty="0"/>
              <a:t>的硬盘</a:t>
            </a:r>
            <a:r>
              <a:rPr lang="zh-CN" altLang="en-US" dirty="0" smtClean="0"/>
              <a:t>。</a:t>
            </a:r>
            <a:endParaRPr lang="en-US" altLang="zh-CN" dirty="0" smtClean="0"/>
          </a:p>
          <a:p>
            <a:pPr latinLnBrk="1"/>
            <a:r>
              <a:rPr lang="en-US" altLang="zh-CN" dirty="0" smtClean="0"/>
              <a:t>5</a:t>
            </a:r>
            <a:r>
              <a:rPr lang="en-US" altLang="zh-CN" dirty="0" smtClean="0"/>
              <a:t>. </a:t>
            </a:r>
            <a:r>
              <a:rPr lang="en-US" altLang="zh-CN" dirty="0" err="1" smtClean="0"/>
              <a:t>brtfs</a:t>
            </a:r>
            <a:r>
              <a:rPr lang="zh-CN" altLang="en-US" dirty="0"/>
              <a:t>文件系统针对固态盘做优化</a:t>
            </a:r>
            <a:r>
              <a:rPr lang="zh-CN" altLang="en-US" dirty="0" smtClean="0"/>
              <a:t>，</a:t>
            </a:r>
            <a:endParaRPr lang="en-US" altLang="zh-CN" dirty="0" smtClean="0"/>
          </a:p>
          <a:p>
            <a:pPr latinLnBrk="1"/>
            <a:endParaRPr lang="zh-CN" altLang="en-US" dirty="0"/>
          </a:p>
          <a:p>
            <a:pPr latinLnBrk="1"/>
            <a:r>
              <a:rPr lang="en-US" altLang="zh-CN" dirty="0" smtClean="0"/>
              <a:t>Windows</a:t>
            </a:r>
            <a:r>
              <a:rPr lang="zh-CN" altLang="en-US" dirty="0" smtClean="0"/>
              <a:t>：</a:t>
            </a:r>
            <a:endParaRPr lang="en-US" altLang="zh-CN" dirty="0" smtClean="0"/>
          </a:p>
          <a:p>
            <a:pPr latinLnBrk="1"/>
            <a:r>
              <a:rPr lang="en-US" altLang="zh-CN" dirty="0" smtClean="0"/>
              <a:t>1. FAT16</a:t>
            </a:r>
            <a:r>
              <a:rPr lang="zh-CN" altLang="en-US" dirty="0"/>
              <a:t>：</a:t>
            </a:r>
            <a:r>
              <a:rPr lang="en-US" altLang="zh-CN" dirty="0"/>
              <a:t>MS—DOS</a:t>
            </a:r>
            <a:r>
              <a:rPr lang="zh-CN" altLang="en-US" dirty="0"/>
              <a:t>和</a:t>
            </a:r>
            <a:r>
              <a:rPr lang="en-US" altLang="zh-CN" dirty="0"/>
              <a:t>win95</a:t>
            </a:r>
            <a:r>
              <a:rPr lang="zh-CN" altLang="en-US" dirty="0"/>
              <a:t>采用的磁盘分区格式，采用</a:t>
            </a:r>
            <a:r>
              <a:rPr lang="en-US" altLang="zh-CN" dirty="0"/>
              <a:t>16</a:t>
            </a:r>
            <a:r>
              <a:rPr lang="zh-CN" altLang="en-US" dirty="0"/>
              <a:t>位的文件分配表，只支持</a:t>
            </a:r>
            <a:r>
              <a:rPr lang="en-US" altLang="zh-CN" dirty="0"/>
              <a:t>2GB</a:t>
            </a:r>
            <a:r>
              <a:rPr lang="zh-CN" altLang="en-US" dirty="0"/>
              <a:t>的磁盘分区，最大单文件</a:t>
            </a:r>
            <a:r>
              <a:rPr lang="en-US" altLang="zh-CN" dirty="0"/>
              <a:t>2GB</a:t>
            </a:r>
            <a:r>
              <a:rPr lang="zh-CN" altLang="en-US" dirty="0"/>
              <a:t>，且磁盘利用率低</a:t>
            </a:r>
          </a:p>
          <a:p>
            <a:pPr latinLnBrk="1"/>
            <a:r>
              <a:rPr lang="en-US" altLang="zh-CN" dirty="0" smtClean="0"/>
              <a:t>2. FAT32</a:t>
            </a:r>
            <a:r>
              <a:rPr lang="zh-CN" altLang="en-US" dirty="0"/>
              <a:t>：</a:t>
            </a:r>
            <a:r>
              <a:rPr lang="zh-CN" altLang="en-US" b="1" dirty="0"/>
              <a:t>（即</a:t>
            </a:r>
            <a:r>
              <a:rPr lang="en-US" altLang="zh-CN" b="1" dirty="0" err="1"/>
              <a:t>Vfat</a:t>
            </a:r>
            <a:r>
              <a:rPr lang="zh-CN" altLang="en-US" b="1" dirty="0"/>
              <a:t>）</a:t>
            </a:r>
            <a:r>
              <a:rPr lang="zh-CN" altLang="en-US" dirty="0"/>
              <a:t>采用</a:t>
            </a:r>
            <a:r>
              <a:rPr lang="en-US" altLang="zh-CN" dirty="0"/>
              <a:t>32</a:t>
            </a:r>
            <a:r>
              <a:rPr lang="zh-CN" altLang="en-US" dirty="0"/>
              <a:t>位的文件分配表，支持最大分区</a:t>
            </a:r>
            <a:r>
              <a:rPr lang="en-US" altLang="zh-CN" dirty="0"/>
              <a:t>128GB</a:t>
            </a:r>
            <a:r>
              <a:rPr lang="zh-CN" altLang="en-US" dirty="0"/>
              <a:t>，最大文件</a:t>
            </a:r>
            <a:r>
              <a:rPr lang="en-US" altLang="zh-CN" dirty="0"/>
              <a:t>4GB</a:t>
            </a:r>
          </a:p>
          <a:p>
            <a:pPr latinLnBrk="1"/>
            <a:r>
              <a:rPr lang="en-US" altLang="zh-CN" dirty="0" smtClean="0"/>
              <a:t>3. NTFS</a:t>
            </a:r>
            <a:r>
              <a:rPr lang="zh-CN" altLang="en-US" dirty="0"/>
              <a:t>：支持最大分区</a:t>
            </a:r>
            <a:r>
              <a:rPr lang="en-US" altLang="zh-CN" dirty="0"/>
              <a:t>2TB</a:t>
            </a:r>
            <a:r>
              <a:rPr lang="zh-CN" altLang="en-US" dirty="0"/>
              <a:t>，最大文件</a:t>
            </a:r>
            <a:r>
              <a:rPr lang="en-US" altLang="zh-CN" dirty="0"/>
              <a:t>2TB</a:t>
            </a:r>
            <a:r>
              <a:rPr lang="zh-CN" altLang="en-US" dirty="0"/>
              <a:t>，安全性和稳定性非常好，不易出现文件</a:t>
            </a:r>
            <a:r>
              <a:rPr lang="zh-CN" altLang="en-US" dirty="0" smtClean="0"/>
              <a:t>碎片</a:t>
            </a:r>
            <a:endParaRPr lang="en-US" altLang="zh-CN" dirty="0" smtClean="0"/>
          </a:p>
          <a:p>
            <a:pPr latinLnBrk="1"/>
            <a:endParaRPr lang="en-US" altLang="zh-CN" dirty="0"/>
          </a:p>
          <a:p>
            <a:pPr latinLnBrk="1"/>
            <a:r>
              <a:rPr lang="zh-CN" altLang="en-US" dirty="0" smtClean="0"/>
              <a:t>其他：</a:t>
            </a:r>
            <a:endParaRPr lang="en-US" altLang="zh-CN" dirty="0" smtClean="0"/>
          </a:p>
          <a:p>
            <a:pPr latinLnBrk="1"/>
            <a:r>
              <a:rPr lang="en-US" altLang="zh-CN" dirty="0"/>
              <a:t>NFS</a:t>
            </a:r>
            <a:r>
              <a:rPr lang="zh-CN" altLang="en-US" dirty="0"/>
              <a:t>：网络文件系统</a:t>
            </a:r>
          </a:p>
          <a:p>
            <a:pPr latinLnBrk="1"/>
            <a:endParaRPr lang="zh-CN" altLang="en-US" dirty="0"/>
          </a:p>
        </p:txBody>
      </p:sp>
    </p:spTree>
    <p:extLst>
      <p:ext uri="{BB962C8B-B14F-4D97-AF65-F5344CB8AC3E}">
        <p14:creationId xmlns:p14="http://schemas.microsoft.com/office/powerpoint/2010/main" val="342761231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6</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1</a:t>
            </a:r>
            <a:r>
              <a:rPr lang="en-US" altLang="zh-CN" sz="2400" dirty="0" smtClean="0">
                <a:latin typeface="+mj-ea"/>
                <a:ea typeface="+mj-ea"/>
              </a:rPr>
              <a:t>. </a:t>
            </a:r>
            <a:r>
              <a:rPr lang="zh-CN" altLang="en-US" sz="2400" dirty="0" smtClean="0">
                <a:latin typeface="+mj-ea"/>
                <a:ea typeface="+mj-ea"/>
              </a:rPr>
              <a:t>文件系统基础知识</a:t>
            </a:r>
            <a:endParaRPr lang="en-US" altLang="zh-CN" sz="2400" dirty="0">
              <a:latin typeface="+mj-ea"/>
              <a:ea typeface="+mj-ea"/>
            </a:endParaRPr>
          </a:p>
        </p:txBody>
      </p:sp>
      <p:sp>
        <p:nvSpPr>
          <p:cNvPr id="4" name="矩形 3"/>
          <p:cNvSpPr/>
          <p:nvPr/>
        </p:nvSpPr>
        <p:spPr>
          <a:xfrm>
            <a:off x="839416" y="1052736"/>
            <a:ext cx="2555508" cy="369332"/>
          </a:xfrm>
          <a:prstGeom prst="rect">
            <a:avLst/>
          </a:prstGeom>
        </p:spPr>
        <p:txBody>
          <a:bodyPr wrap="none">
            <a:spAutoFit/>
          </a:bodyPr>
          <a:lstStyle/>
          <a:p>
            <a:r>
              <a:rPr lang="en-US" altLang="zh-CN" b="1" dirty="0" smtClean="0"/>
              <a:t>Linux</a:t>
            </a:r>
            <a:r>
              <a:rPr lang="zh-CN" altLang="en-US" b="1" dirty="0" smtClean="0"/>
              <a:t>中</a:t>
            </a:r>
            <a:r>
              <a:rPr lang="en-US" altLang="zh-CN" b="1" dirty="0" smtClean="0"/>
              <a:t>7</a:t>
            </a:r>
            <a:r>
              <a:rPr lang="zh-CN" altLang="en-US" b="1" dirty="0" smtClean="0"/>
              <a:t>种文件的类型</a:t>
            </a:r>
            <a:endParaRPr lang="zh-CN" altLang="en-US" b="1" dirty="0"/>
          </a:p>
        </p:txBody>
      </p:sp>
      <p:sp>
        <p:nvSpPr>
          <p:cNvPr id="12" name="矩形 11"/>
          <p:cNvSpPr/>
          <p:nvPr/>
        </p:nvSpPr>
        <p:spPr>
          <a:xfrm>
            <a:off x="839416" y="1772816"/>
            <a:ext cx="9937104" cy="4524315"/>
          </a:xfrm>
          <a:prstGeom prst="rect">
            <a:avLst/>
          </a:prstGeom>
        </p:spPr>
        <p:txBody>
          <a:bodyPr vert="horz" wrap="square">
            <a:spAutoFit/>
          </a:bodyPr>
          <a:lstStyle/>
          <a:p>
            <a:pPr marL="342900" indent="-342900">
              <a:buAutoNum type="arabicPeriod"/>
            </a:pPr>
            <a:r>
              <a:rPr lang="en-US" altLang="zh-CN" dirty="0" smtClean="0"/>
              <a:t>-</a:t>
            </a:r>
            <a:r>
              <a:rPr lang="zh-CN" altLang="en-US" dirty="0"/>
              <a:t>，普通文件</a:t>
            </a:r>
            <a:r>
              <a:rPr lang="zh-CN" altLang="en-US" dirty="0" smtClean="0"/>
              <a:t>。</a:t>
            </a:r>
            <a:endParaRPr lang="en-US" altLang="zh-CN" dirty="0" smtClean="0"/>
          </a:p>
          <a:p>
            <a:pPr marL="342900" indent="-342900">
              <a:buAutoNum type="arabicPeriod"/>
            </a:pPr>
            <a:endParaRPr lang="zh-CN" altLang="en-US" dirty="0"/>
          </a:p>
          <a:p>
            <a:r>
              <a:rPr lang="en-US" altLang="zh-CN" dirty="0"/>
              <a:t>2. d</a:t>
            </a:r>
            <a:r>
              <a:rPr lang="zh-CN" altLang="en-US" dirty="0"/>
              <a:t>，目录文件，</a:t>
            </a:r>
            <a:r>
              <a:rPr lang="en-US" altLang="zh-CN" dirty="0"/>
              <a:t>d</a:t>
            </a:r>
            <a:r>
              <a:rPr lang="zh-CN" altLang="en-US" dirty="0"/>
              <a:t>是</a:t>
            </a:r>
            <a:r>
              <a:rPr lang="en-US" altLang="zh-CN" dirty="0"/>
              <a:t>directory</a:t>
            </a:r>
            <a:r>
              <a:rPr lang="zh-CN" altLang="en-US" dirty="0"/>
              <a:t>的简写</a:t>
            </a:r>
            <a:r>
              <a:rPr lang="zh-CN" altLang="en-US" dirty="0" smtClean="0"/>
              <a:t>。</a:t>
            </a:r>
            <a:endParaRPr lang="en-US" altLang="zh-CN" dirty="0" smtClean="0"/>
          </a:p>
          <a:p>
            <a:endParaRPr lang="zh-CN" altLang="en-US" dirty="0"/>
          </a:p>
          <a:p>
            <a:r>
              <a:rPr lang="en-US" altLang="zh-CN" dirty="0"/>
              <a:t>3. l</a:t>
            </a:r>
            <a:r>
              <a:rPr lang="zh-CN" altLang="en-US" dirty="0"/>
              <a:t>，软连接文件，亦称符号链接文件，</a:t>
            </a:r>
            <a:r>
              <a:rPr lang="en-US" altLang="zh-CN" dirty="0"/>
              <a:t>s</a:t>
            </a:r>
            <a:r>
              <a:rPr lang="zh-CN" altLang="en-US" dirty="0"/>
              <a:t>是</a:t>
            </a:r>
            <a:r>
              <a:rPr lang="en-US" altLang="zh-CN" dirty="0"/>
              <a:t>soft</a:t>
            </a:r>
            <a:r>
              <a:rPr lang="zh-CN" altLang="en-US" dirty="0"/>
              <a:t>或者</a:t>
            </a:r>
            <a:r>
              <a:rPr lang="en-US" altLang="zh-CN" dirty="0"/>
              <a:t>symbolic</a:t>
            </a:r>
            <a:r>
              <a:rPr lang="zh-CN" altLang="en-US" dirty="0"/>
              <a:t>的简写</a:t>
            </a:r>
            <a:r>
              <a:rPr lang="zh-CN" altLang="en-US" dirty="0" smtClean="0"/>
              <a:t>。</a:t>
            </a:r>
            <a:endParaRPr lang="en-US" altLang="zh-CN" dirty="0" smtClean="0"/>
          </a:p>
          <a:p>
            <a:endParaRPr lang="zh-CN" altLang="en-US" dirty="0"/>
          </a:p>
          <a:p>
            <a:r>
              <a:rPr lang="en-US" altLang="zh-CN" dirty="0"/>
              <a:t>4. b</a:t>
            </a:r>
            <a:r>
              <a:rPr lang="zh-CN" altLang="en-US" dirty="0"/>
              <a:t>，块</a:t>
            </a:r>
            <a:r>
              <a:rPr lang="zh-CN" altLang="en-US" dirty="0" smtClean="0"/>
              <a:t>文件，</a:t>
            </a:r>
            <a:r>
              <a:rPr lang="en-US" altLang="zh-CN" dirty="0"/>
              <a:t>b</a:t>
            </a:r>
            <a:r>
              <a:rPr lang="zh-CN" altLang="en-US" dirty="0"/>
              <a:t>是</a:t>
            </a:r>
            <a:r>
              <a:rPr lang="en-US" altLang="zh-CN" dirty="0"/>
              <a:t>block</a:t>
            </a:r>
            <a:r>
              <a:rPr lang="zh-CN" altLang="en-US" dirty="0"/>
              <a:t>的</a:t>
            </a:r>
            <a:r>
              <a:rPr lang="zh-CN" altLang="en-US" dirty="0" smtClean="0"/>
              <a:t>简写，</a:t>
            </a:r>
            <a:r>
              <a:rPr lang="zh-CN" altLang="en-US" dirty="0"/>
              <a:t>存取是以一个字块为单位</a:t>
            </a:r>
            <a:r>
              <a:rPr lang="zh-CN" altLang="en-US" dirty="0" smtClean="0"/>
              <a:t>。</a:t>
            </a:r>
            <a:endParaRPr lang="en-US" altLang="zh-CN" dirty="0" smtClean="0"/>
          </a:p>
          <a:p>
            <a:endParaRPr lang="zh-CN" altLang="en-US" dirty="0"/>
          </a:p>
          <a:p>
            <a:r>
              <a:rPr lang="en-US" altLang="zh-CN" dirty="0"/>
              <a:t>5. c</a:t>
            </a:r>
            <a:r>
              <a:rPr lang="zh-CN" altLang="en-US" dirty="0"/>
              <a:t>，字符文件</a:t>
            </a:r>
            <a:r>
              <a:rPr lang="zh-CN" altLang="en-US" dirty="0" smtClean="0"/>
              <a:t>，</a:t>
            </a:r>
            <a:r>
              <a:rPr lang="en-US" altLang="zh-CN" dirty="0" smtClean="0"/>
              <a:t>c</a:t>
            </a:r>
            <a:r>
              <a:rPr lang="zh-CN" altLang="en-US" dirty="0"/>
              <a:t>是</a:t>
            </a:r>
            <a:r>
              <a:rPr lang="en-US" altLang="zh-CN" dirty="0"/>
              <a:t>character</a:t>
            </a:r>
            <a:r>
              <a:rPr lang="zh-CN" altLang="en-US" dirty="0"/>
              <a:t>的文件</a:t>
            </a:r>
            <a:r>
              <a:rPr lang="zh-CN" altLang="en-US" dirty="0" smtClean="0"/>
              <a:t>。</a:t>
            </a:r>
            <a:r>
              <a:rPr lang="zh-CN" altLang="en-US" dirty="0"/>
              <a:t>存取数据时是以单个字符为单位</a:t>
            </a:r>
            <a:r>
              <a:rPr lang="zh-CN" altLang="en-US" dirty="0" smtClean="0"/>
              <a:t>的</a:t>
            </a:r>
            <a:endParaRPr lang="en-US" altLang="zh-CN" dirty="0" smtClean="0"/>
          </a:p>
          <a:p>
            <a:endParaRPr lang="en-US" altLang="zh-CN" dirty="0" smtClean="0"/>
          </a:p>
          <a:p>
            <a:r>
              <a:rPr lang="en-US" altLang="zh-CN" dirty="0" smtClean="0"/>
              <a:t>6. </a:t>
            </a:r>
            <a:r>
              <a:rPr lang="zh-CN" altLang="en-US" dirty="0" smtClean="0"/>
              <a:t>命名</a:t>
            </a:r>
            <a:r>
              <a:rPr lang="zh-CN" altLang="en-US" dirty="0"/>
              <a:t>管道文件（</a:t>
            </a:r>
            <a:r>
              <a:rPr lang="en-US" altLang="zh-CN" dirty="0"/>
              <a:t>p</a:t>
            </a:r>
            <a:r>
              <a:rPr lang="zh-CN" altLang="en-US" dirty="0"/>
              <a:t>）：负责将一个进程的信息传递给另一个进程，从而使该进程的输出成为另一个进程的</a:t>
            </a:r>
            <a:r>
              <a:rPr lang="zh-CN" altLang="en-US" dirty="0" smtClean="0"/>
              <a:t>输入</a:t>
            </a:r>
            <a:endParaRPr lang="en-US" altLang="zh-CN" dirty="0" smtClean="0"/>
          </a:p>
          <a:p>
            <a:endParaRPr lang="en-US" altLang="zh-CN" dirty="0" smtClean="0"/>
          </a:p>
          <a:p>
            <a:r>
              <a:rPr lang="en-US" altLang="zh-CN" dirty="0" smtClean="0"/>
              <a:t>7.</a:t>
            </a:r>
            <a:r>
              <a:rPr lang="zh-CN" altLang="en-US" dirty="0"/>
              <a:t>套接字文件（</a:t>
            </a:r>
            <a:r>
              <a:rPr lang="en-US" altLang="zh-CN" dirty="0"/>
              <a:t>s</a:t>
            </a:r>
            <a:r>
              <a:rPr lang="zh-CN" altLang="en-US" dirty="0"/>
              <a:t>）：套接字文件系统是一个用户不可见的，高度简化的，用于汇集网络套接字的内存文件系统，它没有块设备， 没有子目录，没有文件缓冲，它借用虚拟文件系统的框架来使套接字与文件描述字具有相同的用户接口</a:t>
            </a:r>
          </a:p>
        </p:txBody>
      </p:sp>
    </p:spTree>
    <p:extLst>
      <p:ext uri="{BB962C8B-B14F-4D97-AF65-F5344CB8AC3E}">
        <p14:creationId xmlns:p14="http://schemas.microsoft.com/office/powerpoint/2010/main" val="2446494058"/>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a:extLst>
              <a:ext uri="{FF2B5EF4-FFF2-40B4-BE49-F238E27FC236}">
                <a16:creationId xmlns:a16="http://schemas.microsoft.com/office/drawing/2014/main" id="{630BB524-A2F5-9E9C-9442-75D8EB6A8585}"/>
              </a:ext>
            </a:extLst>
          </p:cNvPr>
          <p:cNvSpPr txBox="1"/>
          <p:nvPr/>
        </p:nvSpPr>
        <p:spPr>
          <a:xfrm>
            <a:off x="8544272" y="3297843"/>
            <a:ext cx="612668" cy="461665"/>
          </a:xfrm>
          <a:prstGeom prst="rect">
            <a:avLst/>
          </a:prstGeom>
          <a:noFill/>
        </p:spPr>
        <p:txBody>
          <a:bodyPr wrap="none" rtlCol="0">
            <a:spAutoFit/>
          </a:bodyPr>
          <a:lstStyle/>
          <a:p>
            <a:r>
              <a:rPr lang="en-US" altLang="zh-CN" sz="2400" b="1"/>
              <a:t>02.</a:t>
            </a:r>
            <a:endParaRPr lang="zh-CN" altLang="en-US" sz="2400" b="1"/>
          </a:p>
        </p:txBody>
      </p:sp>
      <p:sp>
        <p:nvSpPr>
          <p:cNvPr id="28" name="文本占位符 2">
            <a:extLst>
              <a:ext uri="{FF2B5EF4-FFF2-40B4-BE49-F238E27FC236}">
                <a16:creationId xmlns:a16="http://schemas.microsoft.com/office/drawing/2014/main" id="{C19A3F84-5B14-3C07-3F24-E4F163FA38D9}"/>
              </a:ext>
            </a:extLst>
          </p:cNvPr>
          <p:cNvSpPr txBox="1">
            <a:spLocks/>
          </p:cNvSpPr>
          <p:nvPr/>
        </p:nvSpPr>
        <p:spPr>
          <a:xfrm>
            <a:off x="307105" y="321896"/>
            <a:ext cx="2777442" cy="766762"/>
          </a:xfrm>
          <a:prstGeom prst="rect">
            <a:avLst/>
          </a:prstGeom>
        </p:spPr>
        <p:txBody>
          <a:bodyPr/>
          <a:lstStyle>
            <a:lvl1pPr marL="342900" indent="-342900" algn="l" rtl="0" eaLnBrk="0" fontAlgn="base" hangingPunct="0">
              <a:lnSpc>
                <a:spcPct val="120000"/>
              </a:lnSpc>
              <a:spcBef>
                <a:spcPct val="20000"/>
              </a:spcBef>
              <a:spcAft>
                <a:spcPct val="0"/>
              </a:spcAft>
              <a:buClr>
                <a:srgbClr val="FF0000"/>
              </a:buClr>
              <a:buFont typeface="Wingdings" panose="05000000000000000000" pitchFamily="2" charset="2"/>
              <a:buChar char="n"/>
              <a:defRPr sz="26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
                <a:srgbClr val="FF0000"/>
              </a:buClr>
              <a:buFont typeface="Wingdings" panose="05000000000000000000" pitchFamily="2" charset="2"/>
              <a:buChar char="p"/>
              <a:defRPr sz="2200">
                <a:solidFill>
                  <a:schemeClr val="tx1"/>
                </a:solidFill>
                <a:latin typeface="+mn-lt"/>
                <a:ea typeface="+mn-ea"/>
              </a:defRPr>
            </a:lvl2pPr>
            <a:lvl3pPr marL="1143000" indent="-228600" algn="l" rtl="0" eaLnBrk="0" fontAlgn="base" hangingPunct="0">
              <a:lnSpc>
                <a:spcPct val="120000"/>
              </a:lnSpc>
              <a:spcBef>
                <a:spcPct val="20000"/>
              </a:spcBef>
              <a:spcAft>
                <a:spcPct val="0"/>
              </a:spcAft>
              <a:buClr>
                <a:srgbClr val="FF0000"/>
              </a:buClr>
              <a:buFont typeface="Wingdings" panose="05000000000000000000" pitchFamily="2" charset="2"/>
              <a:buChar char="Ø"/>
              <a:defRPr>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0000"/>
              </a:buClr>
              <a:buFont typeface="Wingdings" panose="05000000000000000000" pitchFamily="2" charset="2"/>
              <a:buChar char="§"/>
              <a:defRPr sz="1600">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5pPr>
            <a:lvl6pPr marL="25146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6pPr>
            <a:lvl7pPr marL="29718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7pPr>
            <a:lvl8pPr marL="34290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8pPr>
            <a:lvl9pPr marL="38862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9pPr>
          </a:lstStyle>
          <a:p>
            <a:pPr marL="0" indent="0">
              <a:buNone/>
            </a:pPr>
            <a:r>
              <a:rPr lang="en-US" altLang="zh-CN" kern="0"/>
              <a:t>CONTENTS</a:t>
            </a:r>
            <a:endParaRPr lang="zh-CN" altLang="en-US" kern="0"/>
          </a:p>
        </p:txBody>
      </p:sp>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7</a:t>
            </a:fld>
            <a:endParaRPr lang="en-US" altLang="zh-CN"/>
          </a:p>
        </p:txBody>
      </p:sp>
      <p:grpSp>
        <p:nvGrpSpPr>
          <p:cNvPr id="23" name="组合 22"/>
          <p:cNvGrpSpPr/>
          <p:nvPr/>
        </p:nvGrpSpPr>
        <p:grpSpPr>
          <a:xfrm>
            <a:off x="369589" y="1070962"/>
            <a:ext cx="4542604" cy="4953321"/>
            <a:chOff x="0" y="1"/>
            <a:chExt cx="5199364" cy="6981487"/>
          </a:xfrm>
        </p:grpSpPr>
        <p:sp>
          <p:nvSpPr>
            <p:cNvPr id="40" name="TextBox 109"/>
            <p:cNvSpPr txBox="1">
              <a:spLocks noChangeArrowheads="1"/>
            </p:cNvSpPr>
            <p:nvPr/>
          </p:nvSpPr>
          <p:spPr bwMode="auto">
            <a:xfrm>
              <a:off x="4987925" y="1906587"/>
              <a:ext cx="211439" cy="8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
          <p:nvSpPr>
            <p:cNvPr id="41" name="Freeform 5"/>
            <p:cNvSpPr>
              <a:spLocks/>
            </p:cNvSpPr>
            <p:nvPr/>
          </p:nvSpPr>
          <p:spPr bwMode="auto">
            <a:xfrm>
              <a:off x="0" y="1"/>
              <a:ext cx="4262438" cy="6872288"/>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2" name="Freeform 6"/>
            <p:cNvSpPr>
              <a:spLocks/>
            </p:cNvSpPr>
            <p:nvPr/>
          </p:nvSpPr>
          <p:spPr bwMode="auto">
            <a:xfrm>
              <a:off x="3394076" y="1"/>
              <a:ext cx="1116013" cy="6872288"/>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rgbClr val="0098A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3" name="矩形 42"/>
            <p:cNvSpPr>
              <a:spLocks noChangeArrowheads="1"/>
            </p:cNvSpPr>
            <p:nvPr/>
          </p:nvSpPr>
          <p:spPr bwMode="auto">
            <a:xfrm>
              <a:off x="2641601" y="5938839"/>
              <a:ext cx="1733550" cy="782637"/>
            </a:xfrm>
            <a:prstGeom prst="rect">
              <a:avLst/>
            </a:prstGeom>
            <a:solidFill>
              <a:srgbClr val="0098A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4" name="TextBox 98"/>
            <p:cNvSpPr txBox="1">
              <a:spLocks noChangeArrowheads="1"/>
            </p:cNvSpPr>
            <p:nvPr/>
          </p:nvSpPr>
          <p:spPr bwMode="auto">
            <a:xfrm>
              <a:off x="2801939" y="5978524"/>
              <a:ext cx="846192" cy="62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zh-CN" altLang="en-US" sz="2160">
                  <a:solidFill>
                    <a:srgbClr val="FFFFFF"/>
                  </a:solidFill>
                  <a:latin typeface="微软雅黑" panose="020B0503020204020204" pitchFamily="34" charset="-122"/>
                  <a:ea typeface="微软雅黑" panose="020B0503020204020204" pitchFamily="34" charset="-122"/>
                </a:rPr>
                <a:t>大纲</a:t>
              </a:r>
            </a:p>
          </p:txBody>
        </p:sp>
        <p:sp>
          <p:nvSpPr>
            <p:cNvPr id="45" name="TextBox 104"/>
            <p:cNvSpPr txBox="1">
              <a:spLocks noChangeArrowheads="1"/>
            </p:cNvSpPr>
            <p:nvPr/>
          </p:nvSpPr>
          <p:spPr bwMode="auto">
            <a:xfrm>
              <a:off x="2855914" y="6361112"/>
              <a:ext cx="1573785" cy="62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2160" dirty="0">
                  <a:solidFill>
                    <a:srgbClr val="FFFFFF"/>
                  </a:solidFill>
                  <a:latin typeface="微软雅黑" panose="020B0503020204020204" pitchFamily="34" charset="-122"/>
                  <a:ea typeface="微软雅黑" panose="020B0503020204020204" pitchFamily="34" charset="-122"/>
                </a:rPr>
                <a:t>Contents</a:t>
              </a:r>
              <a:endParaRPr lang="zh-CN" altLang="en-US" sz="2160" dirty="0">
                <a:solidFill>
                  <a:srgbClr val="FFFFFF"/>
                </a:solidFill>
                <a:latin typeface="微软雅黑" panose="020B0503020204020204" pitchFamily="34" charset="-122"/>
                <a:ea typeface="微软雅黑" panose="020B0503020204020204" pitchFamily="34" charset="-122"/>
              </a:endParaRPr>
            </a:p>
          </p:txBody>
        </p:sp>
      </p:grpSp>
      <p:sp>
        <p:nvSpPr>
          <p:cNvPr id="24" name="Freeform 11"/>
          <p:cNvSpPr>
            <a:spLocks/>
          </p:cNvSpPr>
          <p:nvPr/>
        </p:nvSpPr>
        <p:spPr bwMode="auto">
          <a:xfrm>
            <a:off x="4469275" y="3186741"/>
            <a:ext cx="779480" cy="77167"/>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5" name="Freeform 10"/>
          <p:cNvSpPr>
            <a:spLocks/>
          </p:cNvSpPr>
          <p:nvPr/>
        </p:nvSpPr>
        <p:spPr bwMode="auto">
          <a:xfrm>
            <a:off x="4309984" y="3253176"/>
            <a:ext cx="5847484" cy="480393"/>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6" name="Rectangle 12"/>
          <p:cNvSpPr>
            <a:spLocks noChangeArrowheads="1"/>
          </p:cNvSpPr>
          <p:nvPr/>
        </p:nvSpPr>
        <p:spPr bwMode="auto">
          <a:xfrm>
            <a:off x="4542100" y="3200038"/>
            <a:ext cx="629686" cy="505390"/>
          </a:xfrm>
          <a:prstGeom prst="rect">
            <a:avLst/>
          </a:prstGeom>
          <a:solidFill>
            <a:srgbClr val="0095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7" name="TextBox 115"/>
          <p:cNvSpPr txBox="1">
            <a:spLocks noChangeArrowheads="1"/>
          </p:cNvSpPr>
          <p:nvPr/>
        </p:nvSpPr>
        <p:spPr bwMode="auto">
          <a:xfrm>
            <a:off x="5350013" y="3291078"/>
            <a:ext cx="2159566"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920" b="1" dirty="0" smtClean="0">
                <a:solidFill>
                  <a:srgbClr val="3C3C3C"/>
                </a:solidFill>
                <a:latin typeface="微软雅黑" panose="020B0503020204020204" pitchFamily="34" charset="-122"/>
                <a:ea typeface="微软雅黑" panose="020B0503020204020204" pitchFamily="34" charset="-122"/>
              </a:rPr>
              <a:t>文件系统基本组成</a:t>
            </a:r>
            <a:endParaRPr lang="zh-CN" altLang="en-US" sz="1920" b="1" dirty="0">
              <a:solidFill>
                <a:srgbClr val="3C3C3C"/>
              </a:solidFill>
              <a:latin typeface="微软雅黑" panose="020B0503020204020204" pitchFamily="34" charset="-122"/>
              <a:ea typeface="微软雅黑" panose="020B0503020204020204" pitchFamily="34" charset="-122"/>
            </a:endParaRPr>
          </a:p>
        </p:txBody>
      </p:sp>
      <p:sp>
        <p:nvSpPr>
          <p:cNvPr id="29" name="TextBox 116"/>
          <p:cNvSpPr txBox="1">
            <a:spLocks noChangeArrowheads="1"/>
          </p:cNvSpPr>
          <p:nvPr/>
        </p:nvSpPr>
        <p:spPr bwMode="auto">
          <a:xfrm>
            <a:off x="4638303" y="3180214"/>
            <a:ext cx="450764" cy="60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3361" b="1" dirty="0">
                <a:solidFill>
                  <a:srgbClr val="FFFFFF"/>
                </a:solidFill>
                <a:latin typeface="微软雅黑" panose="020B0503020204020204" pitchFamily="34" charset="-122"/>
                <a:ea typeface="微软雅黑" panose="020B0503020204020204" pitchFamily="34" charset="-122"/>
              </a:rPr>
              <a:t>2</a:t>
            </a: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9898725"/>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8</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2044149" cy="369332"/>
          </a:xfrm>
          <a:prstGeom prst="rect">
            <a:avLst/>
          </a:prstGeom>
        </p:spPr>
        <p:txBody>
          <a:bodyPr wrap="none">
            <a:spAutoFit/>
          </a:bodyPr>
          <a:lstStyle/>
          <a:p>
            <a:r>
              <a:rPr lang="zh-CN" altLang="en-US" b="1" dirty="0" smtClean="0"/>
              <a:t>文件系统基本单元</a:t>
            </a:r>
            <a:endParaRPr lang="en-US" altLang="zh-CN" b="1" dirty="0"/>
          </a:p>
        </p:txBody>
      </p:sp>
      <p:pic>
        <p:nvPicPr>
          <p:cNvPr id="5" name="图片 4"/>
          <p:cNvPicPr>
            <a:picLocks noChangeAspect="1"/>
          </p:cNvPicPr>
          <p:nvPr/>
        </p:nvPicPr>
        <p:blipFill>
          <a:blip r:embed="rId3"/>
          <a:stretch>
            <a:fillRect/>
          </a:stretch>
        </p:blipFill>
        <p:spPr>
          <a:xfrm>
            <a:off x="1199456" y="1422068"/>
            <a:ext cx="9073008" cy="3986727"/>
          </a:xfrm>
          <a:prstGeom prst="rect">
            <a:avLst/>
          </a:prstGeom>
        </p:spPr>
      </p:pic>
      <p:sp>
        <p:nvSpPr>
          <p:cNvPr id="7" name="矩形 6"/>
          <p:cNvSpPr/>
          <p:nvPr/>
        </p:nvSpPr>
        <p:spPr>
          <a:xfrm>
            <a:off x="1055440" y="5615474"/>
            <a:ext cx="9937104" cy="646331"/>
          </a:xfrm>
          <a:prstGeom prst="rect">
            <a:avLst/>
          </a:prstGeom>
        </p:spPr>
        <p:txBody>
          <a:bodyPr vert="horz" wrap="square">
            <a:spAutoFit/>
          </a:bodyPr>
          <a:lstStyle/>
          <a:p>
            <a:r>
              <a:rPr lang="zh-CN" altLang="en-US" dirty="0" smtClean="0"/>
              <a:t>文件系统</a:t>
            </a:r>
            <a:r>
              <a:rPr lang="zh-CN" altLang="en-US" dirty="0" smtClean="0"/>
              <a:t>会将硬盘格式化成许多块</a:t>
            </a:r>
            <a:r>
              <a:rPr lang="zh-CN" altLang="en-US" dirty="0" smtClean="0"/>
              <a:t>组</a:t>
            </a:r>
            <a:r>
              <a:rPr lang="zh-CN" altLang="en-US" dirty="0"/>
              <a:t>，</a:t>
            </a:r>
            <a:r>
              <a:rPr lang="zh-CN" altLang="en-US" dirty="0" smtClean="0"/>
              <a:t>一</a:t>
            </a:r>
            <a:r>
              <a:rPr lang="zh-CN" altLang="en-US" dirty="0"/>
              <a:t>个块组</a:t>
            </a:r>
            <a:r>
              <a:rPr lang="zh-CN" altLang="en-US" dirty="0" smtClean="0"/>
              <a:t>中的基本</a:t>
            </a:r>
            <a:r>
              <a:rPr lang="zh-CN" altLang="en-US" dirty="0" smtClean="0"/>
              <a:t>内容</a:t>
            </a:r>
            <a:r>
              <a:rPr lang="zh-CN" altLang="en-US" dirty="0" smtClean="0"/>
              <a:t>：启动块、超级块、块描述符、块位图、</a:t>
            </a:r>
            <a:r>
              <a:rPr lang="en-US" altLang="zh-CN" dirty="0" err="1" smtClean="0"/>
              <a:t>inode</a:t>
            </a:r>
            <a:r>
              <a:rPr lang="zh-CN" altLang="en-US" dirty="0" smtClean="0"/>
              <a:t>位图、</a:t>
            </a:r>
            <a:r>
              <a:rPr lang="en-US" altLang="zh-CN" dirty="0" err="1" smtClean="0"/>
              <a:t>inode</a:t>
            </a:r>
            <a:r>
              <a:rPr lang="zh-CN" altLang="en-US" dirty="0" smtClean="0"/>
              <a:t>表、数据</a:t>
            </a:r>
            <a:r>
              <a:rPr lang="zh-CN" altLang="en-US" dirty="0" smtClean="0"/>
              <a:t>块</a:t>
            </a:r>
            <a:endParaRPr lang="en-US" altLang="zh-CN" dirty="0" smtClean="0"/>
          </a:p>
        </p:txBody>
      </p:sp>
    </p:spTree>
    <p:extLst>
      <p:ext uri="{BB962C8B-B14F-4D97-AF65-F5344CB8AC3E}">
        <p14:creationId xmlns:p14="http://schemas.microsoft.com/office/powerpoint/2010/main" val="3877423253"/>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9</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499128" cy="369332"/>
          </a:xfrm>
          <a:prstGeom prst="rect">
            <a:avLst/>
          </a:prstGeom>
        </p:spPr>
        <p:txBody>
          <a:bodyPr wrap="none">
            <a:spAutoFit/>
          </a:bodyPr>
          <a:lstStyle/>
          <a:p>
            <a:r>
              <a:rPr lang="en-US" altLang="zh-CN" b="1" dirty="0" smtClean="0"/>
              <a:t>2.1 </a:t>
            </a:r>
            <a:r>
              <a:rPr lang="zh-CN" altLang="en-US" b="1" dirty="0" smtClean="0"/>
              <a:t>文件存储</a:t>
            </a:r>
            <a:endParaRPr lang="en-US" altLang="zh-CN" b="1" dirty="0"/>
          </a:p>
        </p:txBody>
      </p:sp>
      <p:sp>
        <p:nvSpPr>
          <p:cNvPr id="7" name="矩形 6"/>
          <p:cNvSpPr/>
          <p:nvPr/>
        </p:nvSpPr>
        <p:spPr>
          <a:xfrm>
            <a:off x="335360" y="5200029"/>
            <a:ext cx="11261558" cy="1477328"/>
          </a:xfrm>
          <a:prstGeom prst="rect">
            <a:avLst/>
          </a:prstGeom>
        </p:spPr>
        <p:txBody>
          <a:bodyPr vert="horz" wrap="square">
            <a:spAutoFit/>
          </a:bodyPr>
          <a:lstStyle/>
          <a:p>
            <a:r>
              <a:rPr lang="en-US" altLang="zh-CN" dirty="0" smtClean="0"/>
              <a:t>1.</a:t>
            </a:r>
            <a:r>
              <a:rPr lang="zh-CN" altLang="en-US" dirty="0" smtClean="0"/>
              <a:t>有</a:t>
            </a:r>
            <a:r>
              <a:rPr lang="zh-CN" altLang="en-US" dirty="0"/>
              <a:t>一</a:t>
            </a:r>
            <a:r>
              <a:rPr lang="zh-CN" altLang="en-US" dirty="0" smtClean="0"/>
              <a:t>个磁盘，还有一些文件，要把文件放在磁盘中存储</a:t>
            </a:r>
            <a:endParaRPr lang="en-US" altLang="zh-CN" dirty="0" smtClean="0"/>
          </a:p>
          <a:p>
            <a:r>
              <a:rPr lang="en-US" altLang="zh-CN" dirty="0" smtClean="0"/>
              <a:t>2.</a:t>
            </a:r>
            <a:r>
              <a:rPr lang="zh-CN" altLang="en-US" dirty="0" smtClean="0"/>
              <a:t>首先要把磁盘分成多个块，假如磁盘大小为</a:t>
            </a:r>
            <a:r>
              <a:rPr lang="en-US" altLang="zh-CN" dirty="0" smtClean="0"/>
              <a:t>1M</a:t>
            </a:r>
            <a:r>
              <a:rPr lang="zh-CN" altLang="en-US" dirty="0" smtClean="0"/>
              <a:t>，两个扇区为一个</a:t>
            </a:r>
            <a:r>
              <a:rPr lang="zh-CN" altLang="en-US" dirty="0" smtClean="0"/>
              <a:t>块</a:t>
            </a:r>
            <a:r>
              <a:rPr lang="en-US" altLang="zh-CN" dirty="0" smtClean="0"/>
              <a:t>1KB</a:t>
            </a:r>
            <a:r>
              <a:rPr lang="zh-CN" altLang="en-US" dirty="0" smtClean="0"/>
              <a:t>，</a:t>
            </a:r>
            <a:r>
              <a:rPr lang="zh-CN" altLang="en-US" dirty="0" smtClean="0"/>
              <a:t>那么磁盘可以分为</a:t>
            </a:r>
            <a:r>
              <a:rPr lang="en-US" altLang="zh-CN" dirty="0" smtClean="0"/>
              <a:t>1024</a:t>
            </a:r>
            <a:r>
              <a:rPr lang="zh-CN" altLang="en-US" dirty="0" smtClean="0"/>
              <a:t>个块，然后任选一块就可以存储数据了</a:t>
            </a:r>
            <a:endParaRPr lang="en-US" altLang="zh-CN" dirty="0" smtClean="0"/>
          </a:p>
          <a:p>
            <a:r>
              <a:rPr lang="en-US" altLang="zh-CN" dirty="0" smtClean="0"/>
              <a:t>Q</a:t>
            </a:r>
            <a:r>
              <a:rPr lang="en-US" altLang="zh-CN" dirty="0"/>
              <a:t>?</a:t>
            </a:r>
            <a:r>
              <a:rPr lang="en-US" altLang="zh-CN" dirty="0" smtClean="0"/>
              <a:t>:</a:t>
            </a:r>
            <a:r>
              <a:rPr lang="zh-CN" altLang="en-US" dirty="0"/>
              <a:t>块</a:t>
            </a:r>
            <a:r>
              <a:rPr lang="zh-CN" altLang="en-US" dirty="0" smtClean="0"/>
              <a:t>大小对</a:t>
            </a:r>
            <a:r>
              <a:rPr lang="zh-CN" altLang="en-US" dirty="0" smtClean="0"/>
              <a:t>存储性能的</a:t>
            </a:r>
            <a:r>
              <a:rPr lang="zh-CN" altLang="en-US" dirty="0" smtClean="0"/>
              <a:t>影响</a:t>
            </a:r>
            <a:r>
              <a:rPr lang="en-US" altLang="zh-CN" dirty="0" smtClean="0"/>
              <a:t>?</a:t>
            </a:r>
            <a:r>
              <a:rPr lang="zh-CN" altLang="en-US" dirty="0"/>
              <a:t>假设</a:t>
            </a:r>
            <a:r>
              <a:rPr lang="en-US" altLang="zh-CN" dirty="0"/>
              <a:t>Ext2</a:t>
            </a:r>
            <a:r>
              <a:rPr lang="zh-CN" altLang="en-US" dirty="0" smtClean="0"/>
              <a:t>文件系统块</a:t>
            </a:r>
            <a:r>
              <a:rPr lang="en-US" altLang="zh-CN" dirty="0" smtClean="0"/>
              <a:t>=</a:t>
            </a:r>
            <a:r>
              <a:rPr lang="zh-CN" altLang="en-US" dirty="0" smtClean="0"/>
              <a:t> </a:t>
            </a:r>
            <a:r>
              <a:rPr lang="en-US" altLang="zh-CN" dirty="0" smtClean="0"/>
              <a:t>4KB</a:t>
            </a:r>
            <a:r>
              <a:rPr lang="zh-CN" altLang="en-US" dirty="0" smtClean="0"/>
              <a:t>，</a:t>
            </a:r>
            <a:r>
              <a:rPr lang="zh-CN" altLang="en-US" dirty="0"/>
              <a:t>而该文件系统中有 </a:t>
            </a:r>
            <a:r>
              <a:rPr lang="en-US" altLang="zh-CN" dirty="0"/>
              <a:t>10000 </a:t>
            </a:r>
            <a:r>
              <a:rPr lang="zh-CN" altLang="en-US" dirty="0"/>
              <a:t>个小文件，每个文件大小均为 </a:t>
            </a:r>
            <a:r>
              <a:rPr lang="en-US" altLang="zh-CN" dirty="0"/>
              <a:t>50bytes</a:t>
            </a:r>
            <a:r>
              <a:rPr lang="zh-CN" altLang="en-US" dirty="0"/>
              <a:t>， 请问</a:t>
            </a:r>
            <a:r>
              <a:rPr lang="zh-CN" altLang="en-US" dirty="0" smtClean="0"/>
              <a:t>此时磁盘</a:t>
            </a:r>
            <a:r>
              <a:rPr lang="zh-CN" altLang="en-US" dirty="0"/>
              <a:t>浪费多少容量？</a:t>
            </a:r>
            <a:endParaRPr lang="en-US" altLang="zh-CN" dirty="0" smtClean="0"/>
          </a:p>
        </p:txBody>
      </p:sp>
      <p:pic>
        <p:nvPicPr>
          <p:cNvPr id="9" name="图片 8"/>
          <p:cNvPicPr>
            <a:picLocks noChangeAspect="1"/>
          </p:cNvPicPr>
          <p:nvPr/>
        </p:nvPicPr>
        <p:blipFill>
          <a:blip r:embed="rId3"/>
          <a:stretch>
            <a:fillRect/>
          </a:stretch>
        </p:blipFill>
        <p:spPr>
          <a:xfrm>
            <a:off x="784575" y="1546263"/>
            <a:ext cx="1711025" cy="1678943"/>
          </a:xfrm>
          <a:prstGeom prst="rect">
            <a:avLst/>
          </a:prstGeom>
        </p:spPr>
      </p:pic>
      <p:pic>
        <p:nvPicPr>
          <p:cNvPr id="11" name="图片 10"/>
          <p:cNvPicPr>
            <a:picLocks noChangeAspect="1"/>
          </p:cNvPicPr>
          <p:nvPr/>
        </p:nvPicPr>
        <p:blipFill>
          <a:blip r:embed="rId4"/>
          <a:stretch>
            <a:fillRect/>
          </a:stretch>
        </p:blipFill>
        <p:spPr>
          <a:xfrm>
            <a:off x="6087688" y="1604081"/>
            <a:ext cx="4308240" cy="1525278"/>
          </a:xfrm>
          <a:prstGeom prst="rect">
            <a:avLst/>
          </a:prstGeom>
        </p:spPr>
      </p:pic>
      <p:pic>
        <p:nvPicPr>
          <p:cNvPr id="12" name="图片 11"/>
          <p:cNvPicPr>
            <a:picLocks noChangeAspect="1"/>
          </p:cNvPicPr>
          <p:nvPr/>
        </p:nvPicPr>
        <p:blipFill>
          <a:blip r:embed="rId5"/>
          <a:stretch>
            <a:fillRect/>
          </a:stretch>
        </p:blipFill>
        <p:spPr>
          <a:xfrm>
            <a:off x="6276975" y="4086372"/>
            <a:ext cx="5915025" cy="971550"/>
          </a:xfrm>
          <a:prstGeom prst="rect">
            <a:avLst/>
          </a:prstGeom>
        </p:spPr>
      </p:pic>
      <p:pic>
        <p:nvPicPr>
          <p:cNvPr id="13" name="图片 12"/>
          <p:cNvPicPr>
            <a:picLocks noChangeAspect="1"/>
          </p:cNvPicPr>
          <p:nvPr/>
        </p:nvPicPr>
        <p:blipFill>
          <a:blip r:embed="rId6"/>
          <a:stretch>
            <a:fillRect/>
          </a:stretch>
        </p:blipFill>
        <p:spPr>
          <a:xfrm>
            <a:off x="69597" y="4086372"/>
            <a:ext cx="5791200" cy="971550"/>
          </a:xfrm>
          <a:prstGeom prst="rect">
            <a:avLst/>
          </a:prstGeom>
        </p:spPr>
      </p:pic>
      <p:sp>
        <p:nvSpPr>
          <p:cNvPr id="16" name="右箭头 15"/>
          <p:cNvSpPr/>
          <p:nvPr/>
        </p:nvSpPr>
        <p:spPr>
          <a:xfrm rot="5400000">
            <a:off x="1271166" y="3513537"/>
            <a:ext cx="796862" cy="2202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箭头 16"/>
          <p:cNvSpPr/>
          <p:nvPr/>
        </p:nvSpPr>
        <p:spPr>
          <a:xfrm rot="7984475">
            <a:off x="5743462" y="3398589"/>
            <a:ext cx="1015375" cy="2205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右箭头 17"/>
          <p:cNvSpPr/>
          <p:nvPr/>
        </p:nvSpPr>
        <p:spPr>
          <a:xfrm>
            <a:off x="5823871" y="4517885"/>
            <a:ext cx="544256" cy="2135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5726914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10</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smtClean="0">
                <a:latin typeface="+mj-ea"/>
                <a:ea typeface="+mj-ea"/>
              </a:rPr>
              <a:t>Q? </a:t>
            </a:r>
            <a:r>
              <a:rPr lang="zh-CN" altLang="en-US" sz="2400" dirty="0">
                <a:latin typeface="+mj-ea"/>
                <a:ea typeface="+mj-ea"/>
              </a:rPr>
              <a:t>例题</a:t>
            </a:r>
            <a:endParaRPr lang="en-US" altLang="zh-CN" sz="2400" dirty="0">
              <a:latin typeface="+mj-ea"/>
              <a:ea typeface="+mj-ea"/>
            </a:endParaRPr>
          </a:p>
        </p:txBody>
      </p:sp>
      <p:sp>
        <p:nvSpPr>
          <p:cNvPr id="7" name="矩形 6"/>
          <p:cNvSpPr/>
          <p:nvPr/>
        </p:nvSpPr>
        <p:spPr>
          <a:xfrm>
            <a:off x="983432" y="1422068"/>
            <a:ext cx="10729192" cy="1477328"/>
          </a:xfrm>
          <a:prstGeom prst="rect">
            <a:avLst/>
          </a:prstGeom>
        </p:spPr>
        <p:txBody>
          <a:bodyPr vert="horz" wrap="square">
            <a:spAutoFit/>
          </a:bodyPr>
          <a:lstStyle/>
          <a:p>
            <a:r>
              <a:rPr lang="zh-CN" altLang="en-US" dirty="0" smtClean="0"/>
              <a:t>答</a:t>
            </a:r>
            <a:r>
              <a:rPr lang="zh-CN" altLang="en-US" dirty="0"/>
              <a:t>：</a:t>
            </a:r>
            <a:br>
              <a:rPr lang="zh-CN" altLang="en-US" dirty="0"/>
            </a:br>
            <a:r>
              <a:rPr lang="zh-CN" altLang="en-US" dirty="0"/>
              <a:t>由于 </a:t>
            </a:r>
            <a:r>
              <a:rPr lang="en-US" altLang="zh-CN" dirty="0"/>
              <a:t>Ext2 </a:t>
            </a:r>
            <a:r>
              <a:rPr lang="zh-CN" altLang="en-US" dirty="0"/>
              <a:t>文件系统中一个 </a:t>
            </a:r>
            <a:r>
              <a:rPr lang="en-US" altLang="zh-CN" dirty="0"/>
              <a:t>block </a:t>
            </a:r>
            <a:r>
              <a:rPr lang="zh-CN" altLang="en-US" dirty="0"/>
              <a:t>仅能容纳一个文件，因此每个 </a:t>
            </a:r>
            <a:r>
              <a:rPr lang="en-US" altLang="zh-CN" dirty="0"/>
              <a:t>block </a:t>
            </a:r>
            <a:r>
              <a:rPr lang="zh-CN" altLang="en-US" dirty="0"/>
              <a:t>会浪费</a:t>
            </a:r>
            <a:r>
              <a:rPr lang="en-US" altLang="zh-CN" dirty="0"/>
              <a:t>『 4096 - 50 = 4046 (byte)』</a:t>
            </a:r>
            <a:r>
              <a:rPr lang="zh-CN" altLang="en-US" dirty="0"/>
              <a:t>， 系统中总共有一万个小文件，所有文件容量为：</a:t>
            </a:r>
            <a:r>
              <a:rPr lang="en-US" altLang="zh-CN" dirty="0"/>
              <a:t>50 (bytes) x 10000 = 488.3Kbytes</a:t>
            </a:r>
            <a:r>
              <a:rPr lang="zh-CN" altLang="en-US" dirty="0" smtClean="0"/>
              <a:t>，但此时</a:t>
            </a:r>
            <a:r>
              <a:rPr lang="zh-CN" altLang="en-US" dirty="0"/>
              <a:t>浪费的容量为：</a:t>
            </a:r>
            <a:r>
              <a:rPr lang="en-US" altLang="zh-CN" dirty="0"/>
              <a:t>『 4046 (bytes) x 10000 = 38.6MBytes </a:t>
            </a:r>
            <a:r>
              <a:rPr lang="en-US" altLang="zh-CN" dirty="0" smtClean="0"/>
              <a:t>』</a:t>
            </a:r>
          </a:p>
          <a:p>
            <a:r>
              <a:rPr lang="zh-CN" altLang="en-US" dirty="0" smtClean="0"/>
              <a:t>所以说块的大小要合理的分配</a:t>
            </a:r>
            <a:endParaRPr lang="zh-CN" altLang="en-US" dirty="0"/>
          </a:p>
        </p:txBody>
      </p:sp>
    </p:spTree>
    <p:extLst>
      <p:ext uri="{BB962C8B-B14F-4D97-AF65-F5344CB8AC3E}">
        <p14:creationId xmlns:p14="http://schemas.microsoft.com/office/powerpoint/2010/main" val="811952970"/>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11</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266693" cy="369332"/>
          </a:xfrm>
          <a:prstGeom prst="rect">
            <a:avLst/>
          </a:prstGeom>
        </p:spPr>
        <p:txBody>
          <a:bodyPr wrap="none">
            <a:spAutoFit/>
          </a:bodyPr>
          <a:lstStyle/>
          <a:p>
            <a:r>
              <a:rPr lang="en-US" altLang="zh-CN" b="1" dirty="0" smtClean="0"/>
              <a:t>2.2 </a:t>
            </a:r>
            <a:r>
              <a:rPr lang="zh-CN" altLang="en-US" b="1" dirty="0" smtClean="0"/>
              <a:t>块位图</a:t>
            </a:r>
            <a:endParaRPr lang="en-US" altLang="zh-CN" b="1" dirty="0"/>
          </a:p>
        </p:txBody>
      </p:sp>
      <p:sp>
        <p:nvSpPr>
          <p:cNvPr id="7" name="矩形 6"/>
          <p:cNvSpPr/>
          <p:nvPr/>
        </p:nvSpPr>
        <p:spPr>
          <a:xfrm>
            <a:off x="618982" y="5445224"/>
            <a:ext cx="11143946" cy="369332"/>
          </a:xfrm>
          <a:prstGeom prst="rect">
            <a:avLst/>
          </a:prstGeom>
        </p:spPr>
        <p:txBody>
          <a:bodyPr vert="horz" wrap="square">
            <a:spAutoFit/>
          </a:bodyPr>
          <a:lstStyle/>
          <a:p>
            <a:r>
              <a:rPr lang="zh-CN" altLang="en-US" b="1" dirty="0" smtClean="0"/>
              <a:t>块位图</a:t>
            </a:r>
            <a:r>
              <a:rPr lang="zh-CN" altLang="en-US" dirty="0" smtClean="0"/>
              <a:t>：存储</a:t>
            </a:r>
            <a:r>
              <a:rPr lang="zh-CN" altLang="en-US" dirty="0" smtClean="0"/>
              <a:t>文件需要知道存储在那个</a:t>
            </a:r>
            <a:r>
              <a:rPr lang="zh-CN" altLang="en-US" dirty="0" smtClean="0"/>
              <a:t>位置，</a:t>
            </a:r>
            <a:r>
              <a:rPr lang="zh-CN" altLang="en-US" dirty="0" smtClean="0"/>
              <a:t>就引入了块</a:t>
            </a:r>
            <a:r>
              <a:rPr lang="zh-CN" altLang="en-US" dirty="0" smtClean="0"/>
              <a:t>位图。块</a:t>
            </a:r>
            <a:r>
              <a:rPr lang="zh-CN" altLang="en-US" dirty="0" smtClean="0"/>
              <a:t>位图</a:t>
            </a:r>
            <a:r>
              <a:rPr lang="zh-CN" altLang="en-US" dirty="0" smtClean="0"/>
              <a:t>就是识别哪个块</a:t>
            </a:r>
            <a:r>
              <a:rPr lang="zh-CN" altLang="en-US" dirty="0"/>
              <a:t>空闲</a:t>
            </a:r>
            <a:r>
              <a:rPr lang="zh-CN" altLang="en-US" dirty="0" smtClean="0"/>
              <a:t>，</a:t>
            </a:r>
            <a:r>
              <a:rPr lang="zh-CN" altLang="en-US" dirty="0" smtClean="0"/>
              <a:t>那个</a:t>
            </a:r>
            <a:r>
              <a:rPr lang="zh-CN" altLang="en-US" dirty="0" smtClean="0"/>
              <a:t>块</a:t>
            </a:r>
            <a:r>
              <a:rPr lang="zh-CN" altLang="en-US" dirty="0"/>
              <a:t>被占用</a:t>
            </a:r>
            <a:endParaRPr lang="en-US" altLang="zh-CN" dirty="0" smtClean="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982" y="1788457"/>
            <a:ext cx="4692429" cy="2823246"/>
          </a:xfrm>
          <a:prstGeom prst="rect">
            <a:avLst/>
          </a:prstGeom>
        </p:spPr>
      </p:pic>
      <p:pic>
        <p:nvPicPr>
          <p:cNvPr id="9" name="图片 8"/>
          <p:cNvPicPr>
            <a:picLocks noChangeAspect="1"/>
          </p:cNvPicPr>
          <p:nvPr/>
        </p:nvPicPr>
        <p:blipFill>
          <a:blip r:embed="rId4"/>
          <a:stretch>
            <a:fillRect/>
          </a:stretch>
        </p:blipFill>
        <p:spPr>
          <a:xfrm>
            <a:off x="5754852" y="3640153"/>
            <a:ext cx="5772150" cy="971550"/>
          </a:xfrm>
          <a:prstGeom prst="rect">
            <a:avLst/>
          </a:prstGeom>
        </p:spPr>
      </p:pic>
    </p:spTree>
    <p:extLst>
      <p:ext uri="{BB962C8B-B14F-4D97-AF65-F5344CB8AC3E}">
        <p14:creationId xmlns:p14="http://schemas.microsoft.com/office/powerpoint/2010/main" val="1564492895"/>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12</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184940" cy="369332"/>
          </a:xfrm>
          <a:prstGeom prst="rect">
            <a:avLst/>
          </a:prstGeom>
        </p:spPr>
        <p:txBody>
          <a:bodyPr wrap="none">
            <a:spAutoFit/>
          </a:bodyPr>
          <a:lstStyle/>
          <a:p>
            <a:r>
              <a:rPr lang="en-US" altLang="zh-CN" b="1" dirty="0" smtClean="0"/>
              <a:t>2.3 </a:t>
            </a:r>
            <a:r>
              <a:rPr lang="en-US" altLang="zh-CN" b="1" dirty="0" err="1" smtClean="0"/>
              <a:t>inode</a:t>
            </a:r>
            <a:endParaRPr lang="en-US" altLang="zh-CN" b="1" dirty="0"/>
          </a:p>
        </p:txBody>
      </p:sp>
      <p:sp>
        <p:nvSpPr>
          <p:cNvPr id="7" name="矩形 6"/>
          <p:cNvSpPr/>
          <p:nvPr/>
        </p:nvSpPr>
        <p:spPr>
          <a:xfrm>
            <a:off x="725802" y="4944568"/>
            <a:ext cx="10801200" cy="1477328"/>
          </a:xfrm>
          <a:prstGeom prst="rect">
            <a:avLst/>
          </a:prstGeom>
        </p:spPr>
        <p:txBody>
          <a:bodyPr vert="horz" wrap="square">
            <a:spAutoFit/>
          </a:bodyPr>
          <a:lstStyle/>
          <a:p>
            <a:r>
              <a:rPr lang="en-US" altLang="zh-CN" dirty="0" smtClean="0"/>
              <a:t>1.</a:t>
            </a:r>
            <a:r>
              <a:rPr lang="zh-CN" altLang="en-US" dirty="0" smtClean="0"/>
              <a:t>我们将文件存在一个数据块中，我们怎么查找文件在哪呢？那就给文件取个名字和记录一下存储位置</a:t>
            </a:r>
            <a:endParaRPr lang="en-US" altLang="zh-CN" dirty="0" smtClean="0"/>
          </a:p>
          <a:p>
            <a:r>
              <a:rPr lang="en-US" altLang="zh-CN" dirty="0" smtClean="0"/>
              <a:t>2. </a:t>
            </a:r>
            <a:r>
              <a:rPr lang="zh-CN" altLang="en-US" dirty="0" smtClean="0"/>
              <a:t>文件的相关信息（大小、创建时间、文件权限</a:t>
            </a:r>
            <a:r>
              <a:rPr lang="en-US" altLang="zh-CN" dirty="0" smtClean="0"/>
              <a:t>…</a:t>
            </a:r>
            <a:r>
              <a:rPr lang="zh-CN" altLang="en-US" dirty="0" smtClean="0"/>
              <a:t>），我们用一个</a:t>
            </a:r>
            <a:r>
              <a:rPr lang="en-US" altLang="zh-CN" dirty="0" err="1" smtClean="0"/>
              <a:t>inode</a:t>
            </a:r>
            <a:r>
              <a:rPr lang="zh-CN" altLang="en-US" dirty="0" smtClean="0"/>
              <a:t>描述</a:t>
            </a:r>
            <a:endParaRPr lang="en-US" altLang="zh-CN" dirty="0" smtClean="0"/>
          </a:p>
          <a:p>
            <a:r>
              <a:rPr lang="en-US" altLang="zh-CN" dirty="0"/>
              <a:t>3</a:t>
            </a:r>
            <a:r>
              <a:rPr lang="en-US" altLang="zh-CN" dirty="0" smtClean="0"/>
              <a:t>.inode</a:t>
            </a:r>
            <a:r>
              <a:rPr lang="zh-CN" altLang="en-US" dirty="0" smtClean="0"/>
              <a:t>存储块为</a:t>
            </a:r>
            <a:r>
              <a:rPr lang="en-US" altLang="zh-CN" dirty="0" err="1" smtClean="0"/>
              <a:t>inode</a:t>
            </a:r>
            <a:r>
              <a:rPr lang="zh-CN" altLang="en-US" dirty="0" smtClean="0"/>
              <a:t>表，为了表示哪个</a:t>
            </a:r>
            <a:r>
              <a:rPr lang="en-US" altLang="zh-CN" dirty="0" err="1" smtClean="0"/>
              <a:t>inode</a:t>
            </a:r>
            <a:r>
              <a:rPr lang="zh-CN" altLang="en-US" dirty="0" smtClean="0"/>
              <a:t>可用，用</a:t>
            </a:r>
            <a:r>
              <a:rPr lang="en-US" altLang="zh-CN" dirty="0" err="1" smtClean="0"/>
              <a:t>inode</a:t>
            </a:r>
            <a:r>
              <a:rPr lang="zh-CN" altLang="en-US" dirty="0" smtClean="0"/>
              <a:t>位图描述（同块位图原理一样）</a:t>
            </a:r>
            <a:endParaRPr lang="en-US" altLang="zh-CN" dirty="0" smtClean="0"/>
          </a:p>
          <a:p>
            <a:r>
              <a:rPr lang="en-US" altLang="zh-CN" dirty="0" smtClean="0"/>
              <a:t>4.</a:t>
            </a:r>
            <a:r>
              <a:rPr lang="zh-CN" altLang="en-US" dirty="0" smtClean="0"/>
              <a:t>有多少个</a:t>
            </a:r>
            <a:r>
              <a:rPr lang="en-US" altLang="zh-CN" dirty="0" err="1" smtClean="0"/>
              <a:t>inode</a:t>
            </a:r>
            <a:r>
              <a:rPr lang="zh-CN" altLang="en-US" dirty="0" smtClean="0"/>
              <a:t>是格式化文件系统时写好的</a:t>
            </a:r>
            <a:endParaRPr lang="en-US" altLang="zh-CN" dirty="0" smtClean="0"/>
          </a:p>
          <a:p>
            <a:endParaRPr lang="en-US" altLang="zh-CN" dirty="0" smtClean="0"/>
          </a:p>
        </p:txBody>
      </p:sp>
      <p:pic>
        <p:nvPicPr>
          <p:cNvPr id="6" name="图片 5"/>
          <p:cNvPicPr>
            <a:picLocks noChangeAspect="1"/>
          </p:cNvPicPr>
          <p:nvPr/>
        </p:nvPicPr>
        <p:blipFill>
          <a:blip r:embed="rId3"/>
          <a:stretch>
            <a:fillRect/>
          </a:stretch>
        </p:blipFill>
        <p:spPr>
          <a:xfrm>
            <a:off x="839416" y="2276872"/>
            <a:ext cx="4204028" cy="1449665"/>
          </a:xfrm>
          <a:prstGeom prst="rect">
            <a:avLst/>
          </a:prstGeom>
        </p:spPr>
      </p:pic>
      <p:pic>
        <p:nvPicPr>
          <p:cNvPr id="10" name="图片 9"/>
          <p:cNvPicPr>
            <a:picLocks noChangeAspect="1"/>
          </p:cNvPicPr>
          <p:nvPr/>
        </p:nvPicPr>
        <p:blipFill>
          <a:blip r:embed="rId4"/>
          <a:stretch>
            <a:fillRect/>
          </a:stretch>
        </p:blipFill>
        <p:spPr>
          <a:xfrm>
            <a:off x="5739252" y="1266914"/>
            <a:ext cx="5325300" cy="3469580"/>
          </a:xfrm>
          <a:prstGeom prst="rect">
            <a:avLst/>
          </a:prstGeom>
        </p:spPr>
      </p:pic>
    </p:spTree>
    <p:extLst>
      <p:ext uri="{BB962C8B-B14F-4D97-AF65-F5344CB8AC3E}">
        <p14:creationId xmlns:p14="http://schemas.microsoft.com/office/powerpoint/2010/main" val="502538039"/>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13</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2505814" cy="369332"/>
          </a:xfrm>
          <a:prstGeom prst="rect">
            <a:avLst/>
          </a:prstGeom>
        </p:spPr>
        <p:txBody>
          <a:bodyPr wrap="none">
            <a:spAutoFit/>
          </a:bodyPr>
          <a:lstStyle/>
          <a:p>
            <a:r>
              <a:rPr lang="en-US" altLang="zh-CN" b="1" dirty="0" smtClean="0"/>
              <a:t>2.4 </a:t>
            </a:r>
            <a:r>
              <a:rPr lang="zh-CN" altLang="en-US" b="1" dirty="0" smtClean="0"/>
              <a:t>文件存储</a:t>
            </a:r>
            <a:r>
              <a:rPr lang="en-US" altLang="zh-CN" b="1" dirty="0" smtClean="0"/>
              <a:t>-</a:t>
            </a:r>
            <a:r>
              <a:rPr lang="zh-CN" altLang="en-US" b="1" dirty="0" smtClean="0"/>
              <a:t>连续存储</a:t>
            </a:r>
            <a:endParaRPr lang="en-US" altLang="zh-CN" b="1" dirty="0"/>
          </a:p>
        </p:txBody>
      </p:sp>
      <p:sp>
        <p:nvSpPr>
          <p:cNvPr id="7" name="矩形 6"/>
          <p:cNvSpPr/>
          <p:nvPr/>
        </p:nvSpPr>
        <p:spPr>
          <a:xfrm>
            <a:off x="623392" y="5085184"/>
            <a:ext cx="10503474" cy="923330"/>
          </a:xfrm>
          <a:prstGeom prst="rect">
            <a:avLst/>
          </a:prstGeom>
        </p:spPr>
        <p:txBody>
          <a:bodyPr vert="horz" wrap="square">
            <a:spAutoFit/>
          </a:bodyPr>
          <a:lstStyle/>
          <a:p>
            <a:r>
              <a:rPr lang="zh-CN" altLang="en-US" dirty="0"/>
              <a:t>文件大小一般都占用不止一个块</a:t>
            </a:r>
            <a:r>
              <a:rPr lang="zh-CN" altLang="en-US" dirty="0" smtClean="0"/>
              <a:t>，大的文件存储的话就用多个数据块存储。如果采用简单的连续存储，这种方法简单但是存在缺陷，连续</a:t>
            </a:r>
            <a:r>
              <a:rPr lang="zh-CN" altLang="en-US" dirty="0"/>
              <a:t>存储会造成磁盘碎片化，而且不利于修改文件大小，所以常用的是非连续存储</a:t>
            </a:r>
            <a:endParaRPr lang="en-US" altLang="zh-CN" dirty="0"/>
          </a:p>
        </p:txBody>
      </p:sp>
      <p:pic>
        <p:nvPicPr>
          <p:cNvPr id="5" name="图片 4"/>
          <p:cNvPicPr>
            <a:picLocks noChangeAspect="1"/>
          </p:cNvPicPr>
          <p:nvPr/>
        </p:nvPicPr>
        <p:blipFill>
          <a:blip r:embed="rId3"/>
          <a:stretch>
            <a:fillRect/>
          </a:stretch>
        </p:blipFill>
        <p:spPr>
          <a:xfrm>
            <a:off x="3575720" y="1422068"/>
            <a:ext cx="4392488" cy="3179530"/>
          </a:xfrm>
          <a:prstGeom prst="rect">
            <a:avLst/>
          </a:prstGeom>
        </p:spPr>
      </p:pic>
    </p:spTree>
    <p:extLst>
      <p:ext uri="{BB962C8B-B14F-4D97-AF65-F5344CB8AC3E}">
        <p14:creationId xmlns:p14="http://schemas.microsoft.com/office/powerpoint/2010/main" val="1598007782"/>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14</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2738250" cy="369332"/>
          </a:xfrm>
          <a:prstGeom prst="rect">
            <a:avLst/>
          </a:prstGeom>
        </p:spPr>
        <p:txBody>
          <a:bodyPr wrap="none">
            <a:spAutoFit/>
          </a:bodyPr>
          <a:lstStyle/>
          <a:p>
            <a:r>
              <a:rPr lang="en-US" altLang="zh-CN" b="1" dirty="0" smtClean="0"/>
              <a:t>2.4 </a:t>
            </a:r>
            <a:r>
              <a:rPr lang="zh-CN" altLang="en-US" b="1" dirty="0" smtClean="0"/>
              <a:t>文件存储</a:t>
            </a:r>
            <a:r>
              <a:rPr lang="en-US" altLang="zh-CN" b="1" dirty="0" smtClean="0"/>
              <a:t>-</a:t>
            </a:r>
            <a:r>
              <a:rPr lang="zh-CN" altLang="en-US" b="1" dirty="0" smtClean="0"/>
              <a:t>非连续存储</a:t>
            </a:r>
            <a:endParaRPr lang="en-US" altLang="zh-CN" b="1" dirty="0"/>
          </a:p>
        </p:txBody>
      </p:sp>
      <p:sp>
        <p:nvSpPr>
          <p:cNvPr id="7" name="矩形 6"/>
          <p:cNvSpPr/>
          <p:nvPr/>
        </p:nvSpPr>
        <p:spPr>
          <a:xfrm>
            <a:off x="4151784" y="1628800"/>
            <a:ext cx="7704856" cy="3693319"/>
          </a:xfrm>
          <a:prstGeom prst="rect">
            <a:avLst/>
          </a:prstGeom>
        </p:spPr>
        <p:txBody>
          <a:bodyPr vert="horz" wrap="square">
            <a:spAutoFit/>
          </a:bodyPr>
          <a:lstStyle/>
          <a:p>
            <a:r>
              <a:rPr lang="zh-CN" altLang="en-US" dirty="0"/>
              <a:t>非</a:t>
            </a:r>
            <a:r>
              <a:rPr lang="zh-CN" altLang="en-US" dirty="0" smtClean="0"/>
              <a:t>连续存储指的是，一个文件可以分别存在不连续的数据块中</a:t>
            </a:r>
            <a:r>
              <a:rPr lang="en-US" altLang="zh-CN" dirty="0" smtClean="0"/>
              <a:t>,</a:t>
            </a:r>
            <a:r>
              <a:rPr lang="zh-CN" altLang="en-US" dirty="0" smtClean="0"/>
              <a:t>我们</a:t>
            </a:r>
            <a:r>
              <a:rPr lang="zh-CN" altLang="en-US" dirty="0" smtClean="0"/>
              <a:t>记录使用的数据</a:t>
            </a:r>
            <a:r>
              <a:rPr lang="zh-CN" altLang="en-US" dirty="0" smtClean="0"/>
              <a:t>块号就可以获取整个文件</a:t>
            </a:r>
            <a:r>
              <a:rPr lang="zh-CN" altLang="en-US" dirty="0" smtClean="0"/>
              <a:t>。</a:t>
            </a:r>
            <a:endParaRPr lang="en-US" altLang="zh-CN" dirty="0" smtClean="0"/>
          </a:p>
          <a:p>
            <a:r>
              <a:rPr lang="en-US" altLang="zh-CN" dirty="0" smtClean="0"/>
              <a:t>Ext2</a:t>
            </a:r>
            <a:r>
              <a:rPr lang="zh-CN" altLang="en-US" dirty="0" smtClean="0"/>
              <a:t>文件系统</a:t>
            </a:r>
            <a:r>
              <a:rPr lang="zh-CN" altLang="en-US" dirty="0" smtClean="0"/>
              <a:t>为了记录使用的数据块使用了间接索引方式：</a:t>
            </a:r>
            <a:endParaRPr lang="en-US" altLang="zh-CN" dirty="0" smtClean="0"/>
          </a:p>
          <a:p>
            <a:r>
              <a:rPr lang="zh-CN" altLang="en-US" dirty="0" smtClean="0"/>
              <a:t>一级</a:t>
            </a:r>
            <a:r>
              <a:rPr lang="zh-CN" altLang="en-US" dirty="0" smtClean="0"/>
              <a:t>间接</a:t>
            </a:r>
            <a:r>
              <a:rPr lang="zh-CN" altLang="en-US" dirty="0" smtClean="0"/>
              <a:t>索</a:t>
            </a:r>
            <a:r>
              <a:rPr lang="en-US" altLang="zh-CN" dirty="0" smtClean="0"/>
              <a:t>:</a:t>
            </a:r>
            <a:endParaRPr lang="zh-CN" altLang="en-US" dirty="0"/>
          </a:p>
          <a:p>
            <a:r>
              <a:rPr lang="zh-CN" altLang="en-US" dirty="0" smtClean="0"/>
              <a:t>假设</a:t>
            </a:r>
            <a:r>
              <a:rPr lang="zh-CN" altLang="en-US" dirty="0"/>
              <a:t>每个物理块大小是</a:t>
            </a:r>
            <a:r>
              <a:rPr lang="en-US" altLang="zh-CN" dirty="0"/>
              <a:t>M(byte),</a:t>
            </a:r>
            <a:r>
              <a:rPr lang="zh-CN" altLang="en-US" dirty="0"/>
              <a:t>一个块名字占用</a:t>
            </a:r>
            <a:r>
              <a:rPr lang="en-US" altLang="zh-CN" dirty="0"/>
              <a:t>n(byte),</a:t>
            </a:r>
            <a:r>
              <a:rPr lang="zh-CN" altLang="en-US" dirty="0"/>
              <a:t>那么一个物理块能存</a:t>
            </a:r>
            <a:r>
              <a:rPr lang="en-US" altLang="zh-CN" dirty="0"/>
              <a:t>M/n</a:t>
            </a:r>
            <a:r>
              <a:rPr lang="zh-CN" altLang="en-US" dirty="0"/>
              <a:t>个块的名字</a:t>
            </a:r>
            <a:r>
              <a:rPr lang="en-US" altLang="zh-CN" dirty="0"/>
              <a:t>,</a:t>
            </a:r>
            <a:r>
              <a:rPr lang="zh-CN" altLang="en-US" dirty="0"/>
              <a:t>又知道一个块的大小是</a:t>
            </a:r>
            <a:r>
              <a:rPr lang="en-US" altLang="zh-CN" dirty="0"/>
              <a:t>M(byte),</a:t>
            </a:r>
            <a:r>
              <a:rPr lang="zh-CN" altLang="en-US" dirty="0"/>
              <a:t>所以一级间接索引能存储</a:t>
            </a:r>
            <a:r>
              <a:rPr lang="zh-CN" altLang="en-US" dirty="0" smtClean="0"/>
              <a:t>的文件大小</a:t>
            </a:r>
            <a:r>
              <a:rPr lang="zh-CN" altLang="en-US" dirty="0"/>
              <a:t>是</a:t>
            </a:r>
            <a:r>
              <a:rPr lang="en-US" altLang="zh-CN" dirty="0"/>
              <a:t>M*(M/n)(byte</a:t>
            </a:r>
            <a:r>
              <a:rPr lang="en-US" altLang="zh-CN" dirty="0" smtClean="0"/>
              <a:t>)</a:t>
            </a:r>
          </a:p>
          <a:p>
            <a:endParaRPr lang="en-US" altLang="zh-CN" dirty="0"/>
          </a:p>
          <a:p>
            <a:r>
              <a:rPr lang="zh-CN" altLang="en-US" dirty="0" smtClean="0"/>
              <a:t>举例</a:t>
            </a:r>
            <a:r>
              <a:rPr lang="zh-CN" altLang="en-US" dirty="0"/>
              <a:t>一</a:t>
            </a:r>
            <a:r>
              <a:rPr lang="zh-CN" altLang="en-US" dirty="0" smtClean="0"/>
              <a:t>个块</a:t>
            </a:r>
            <a:r>
              <a:rPr lang="zh-CN" altLang="en-US" dirty="0"/>
              <a:t>大小</a:t>
            </a:r>
            <a:r>
              <a:rPr lang="zh-CN" altLang="en-US" dirty="0" smtClean="0"/>
              <a:t>是</a:t>
            </a:r>
            <a:r>
              <a:rPr lang="en-US" altLang="zh-CN" dirty="0" smtClean="0"/>
              <a:t>1KB,</a:t>
            </a:r>
            <a:r>
              <a:rPr lang="zh-CN" altLang="en-US" dirty="0"/>
              <a:t>一个块名字占用</a:t>
            </a:r>
            <a:r>
              <a:rPr lang="en-US" altLang="zh-CN" dirty="0"/>
              <a:t>4(byte),</a:t>
            </a:r>
            <a:r>
              <a:rPr lang="zh-CN" altLang="en-US" dirty="0"/>
              <a:t>那么一个物理块能存储</a:t>
            </a:r>
            <a:r>
              <a:rPr lang="en-US" altLang="zh-CN" dirty="0"/>
              <a:t>256</a:t>
            </a:r>
            <a:r>
              <a:rPr lang="zh-CN" altLang="en-US" dirty="0"/>
              <a:t>个块名字，所以一级间接索引能存储</a:t>
            </a:r>
            <a:r>
              <a:rPr lang="zh-CN" altLang="en-US" dirty="0" smtClean="0"/>
              <a:t>的文件大小</a:t>
            </a:r>
            <a:r>
              <a:rPr lang="zh-CN" altLang="en-US" dirty="0" smtClean="0"/>
              <a:t>是</a:t>
            </a:r>
            <a:r>
              <a:rPr lang="en-US" altLang="zh-CN" dirty="0" smtClean="0"/>
              <a:t>1KB*256=256KB</a:t>
            </a:r>
            <a:endParaRPr lang="en-US" altLang="zh-CN" dirty="0"/>
          </a:p>
          <a:p>
            <a:endParaRPr lang="en-US" altLang="zh-CN" dirty="0"/>
          </a:p>
          <a:p>
            <a:r>
              <a:rPr lang="zh-CN" altLang="en-US" dirty="0"/>
              <a:t>由一级间接索引的知识，我们可以推出二级间接索引</a:t>
            </a:r>
            <a:r>
              <a:rPr lang="zh-CN" altLang="en-US" dirty="0" smtClean="0"/>
              <a:t>存储文件大小</a:t>
            </a:r>
            <a:r>
              <a:rPr lang="zh-CN" altLang="en-US" dirty="0"/>
              <a:t>为</a:t>
            </a:r>
            <a:r>
              <a:rPr lang="en-US" altLang="zh-CN" dirty="0"/>
              <a:t>M*(M/n)(M/n)(byte</a:t>
            </a:r>
            <a:r>
              <a:rPr lang="en-US" altLang="zh-CN" dirty="0" smtClean="0"/>
              <a:t>)</a:t>
            </a:r>
          </a:p>
        </p:txBody>
      </p:sp>
      <p:pic>
        <p:nvPicPr>
          <p:cNvPr id="8" name="图片 7"/>
          <p:cNvPicPr>
            <a:picLocks noChangeAspect="1"/>
          </p:cNvPicPr>
          <p:nvPr/>
        </p:nvPicPr>
        <p:blipFill>
          <a:blip r:embed="rId3"/>
          <a:stretch>
            <a:fillRect/>
          </a:stretch>
        </p:blipFill>
        <p:spPr>
          <a:xfrm>
            <a:off x="359133" y="1422068"/>
            <a:ext cx="3519364" cy="5319300"/>
          </a:xfrm>
          <a:prstGeom prst="rect">
            <a:avLst/>
          </a:prstGeom>
        </p:spPr>
      </p:pic>
    </p:spTree>
    <p:extLst>
      <p:ext uri="{BB962C8B-B14F-4D97-AF65-F5344CB8AC3E}">
        <p14:creationId xmlns:p14="http://schemas.microsoft.com/office/powerpoint/2010/main" val="3018649520"/>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15</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731564" cy="369332"/>
          </a:xfrm>
          <a:prstGeom prst="rect">
            <a:avLst/>
          </a:prstGeom>
        </p:spPr>
        <p:txBody>
          <a:bodyPr wrap="none">
            <a:spAutoFit/>
          </a:bodyPr>
          <a:lstStyle/>
          <a:p>
            <a:r>
              <a:rPr lang="en-US" altLang="zh-CN" b="1" dirty="0" smtClean="0"/>
              <a:t>2.4 </a:t>
            </a:r>
            <a:r>
              <a:rPr lang="zh-CN" altLang="en-US" b="1" dirty="0"/>
              <a:t>非</a:t>
            </a:r>
            <a:r>
              <a:rPr lang="zh-CN" altLang="en-US" b="1" dirty="0" smtClean="0"/>
              <a:t>连续存储</a:t>
            </a:r>
            <a:endParaRPr lang="en-US" altLang="zh-CN" b="1" dirty="0"/>
          </a:p>
        </p:txBody>
      </p:sp>
      <p:sp>
        <p:nvSpPr>
          <p:cNvPr id="7" name="矩形 6"/>
          <p:cNvSpPr/>
          <p:nvPr/>
        </p:nvSpPr>
        <p:spPr>
          <a:xfrm>
            <a:off x="191344" y="1430972"/>
            <a:ext cx="5832648" cy="5632311"/>
          </a:xfrm>
          <a:prstGeom prst="rect">
            <a:avLst/>
          </a:prstGeom>
        </p:spPr>
        <p:txBody>
          <a:bodyPr vert="horz" wrap="square">
            <a:spAutoFit/>
          </a:bodyPr>
          <a:lstStyle/>
          <a:p>
            <a:r>
              <a:rPr lang="en-US" altLang="zh-CN" sz="1200" dirty="0" err="1">
                <a:latin typeface="Times New Roman" panose="02020603050405020304" pitchFamily="18" charset="0"/>
                <a:cs typeface="Times New Roman" panose="02020603050405020304" pitchFamily="18" charset="0"/>
              </a:rPr>
              <a:t>struct</a:t>
            </a:r>
            <a:r>
              <a:rPr lang="en-US" altLang="zh-CN" sz="1200" dirty="0">
                <a:latin typeface="Times New Roman" panose="02020603050405020304" pitchFamily="18" charset="0"/>
                <a:cs typeface="Times New Roman" panose="02020603050405020304" pitchFamily="18" charset="0"/>
              </a:rPr>
              <a:t> ext2_inode {</a:t>
            </a:r>
          </a:p>
          <a:p>
            <a:r>
              <a:rPr lang="en-US" altLang="zh-CN" sz="1200" dirty="0">
                <a:latin typeface="Times New Roman" panose="02020603050405020304" pitchFamily="18" charset="0"/>
                <a:cs typeface="Times New Roman" panose="02020603050405020304" pitchFamily="18" charset="0"/>
              </a:rPr>
              <a:t>	__le16 mode;</a:t>
            </a:r>
          </a:p>
          <a:p>
            <a:r>
              <a:rPr lang="en-US" altLang="zh-CN" sz="1200" dirty="0">
                <a:latin typeface="Times New Roman" panose="02020603050405020304" pitchFamily="18" charset="0"/>
                <a:cs typeface="Times New Roman" panose="02020603050405020304" pitchFamily="18" charset="0"/>
              </a:rPr>
              <a:t>	__le16 </a:t>
            </a:r>
            <a:r>
              <a:rPr lang="en-US" altLang="zh-CN" sz="1200" dirty="0" err="1">
                <a:latin typeface="Times New Roman" panose="02020603050405020304" pitchFamily="18" charset="0"/>
                <a:cs typeface="Times New Roman" panose="02020603050405020304" pitchFamily="18" charset="0"/>
              </a:rPr>
              <a:t>uid</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__le32 size;</a:t>
            </a:r>
          </a:p>
          <a:p>
            <a:r>
              <a:rPr lang="en-US" altLang="zh-CN" sz="1200" dirty="0">
                <a:latin typeface="Times New Roman" panose="02020603050405020304" pitchFamily="18" charset="0"/>
                <a:cs typeface="Times New Roman" panose="02020603050405020304" pitchFamily="18" charset="0"/>
              </a:rPr>
              <a:t>	__le32 </a:t>
            </a:r>
            <a:r>
              <a:rPr lang="en-US" altLang="zh-CN" sz="1200" dirty="0" err="1">
                <a:latin typeface="Times New Roman" panose="02020603050405020304" pitchFamily="18" charset="0"/>
                <a:cs typeface="Times New Roman" panose="02020603050405020304" pitchFamily="18" charset="0"/>
              </a:rPr>
              <a:t>atime</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__le32 </a:t>
            </a:r>
            <a:r>
              <a:rPr lang="en-US" altLang="zh-CN" sz="1200" dirty="0" err="1">
                <a:latin typeface="Times New Roman" panose="02020603050405020304" pitchFamily="18" charset="0"/>
                <a:cs typeface="Times New Roman" panose="02020603050405020304" pitchFamily="18" charset="0"/>
              </a:rPr>
              <a:t>ctime</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__le32 </a:t>
            </a:r>
            <a:r>
              <a:rPr lang="en-US" altLang="zh-CN" sz="1200" dirty="0" err="1">
                <a:latin typeface="Times New Roman" panose="02020603050405020304" pitchFamily="18" charset="0"/>
                <a:cs typeface="Times New Roman" panose="02020603050405020304" pitchFamily="18" charset="0"/>
              </a:rPr>
              <a:t>mtime</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__le32 </a:t>
            </a:r>
            <a:r>
              <a:rPr lang="en-US" altLang="zh-CN" sz="1200" dirty="0" err="1">
                <a:latin typeface="Times New Roman" panose="02020603050405020304" pitchFamily="18" charset="0"/>
                <a:cs typeface="Times New Roman" panose="02020603050405020304" pitchFamily="18" charset="0"/>
              </a:rPr>
              <a:t>dtime</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__le16 </a:t>
            </a:r>
            <a:r>
              <a:rPr lang="en-US" altLang="zh-CN" sz="1200" dirty="0" err="1">
                <a:latin typeface="Times New Roman" panose="02020603050405020304" pitchFamily="18" charset="0"/>
                <a:cs typeface="Times New Roman" panose="02020603050405020304" pitchFamily="18" charset="0"/>
              </a:rPr>
              <a:t>gid</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__le16 </a:t>
            </a:r>
            <a:r>
              <a:rPr lang="en-US" altLang="zh-CN" sz="1200" dirty="0" err="1">
                <a:latin typeface="Times New Roman" panose="02020603050405020304" pitchFamily="18" charset="0"/>
                <a:cs typeface="Times New Roman" panose="02020603050405020304" pitchFamily="18" charset="0"/>
              </a:rPr>
              <a:t>nlinks</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__le32 </a:t>
            </a:r>
            <a:r>
              <a:rPr lang="en-US" altLang="zh-CN" sz="1200" dirty="0" err="1">
                <a:latin typeface="Times New Roman" panose="02020603050405020304" pitchFamily="18" charset="0"/>
                <a:cs typeface="Times New Roman" panose="02020603050405020304" pitchFamily="18" charset="0"/>
              </a:rPr>
              <a:t>blockcnt</a:t>
            </a:r>
            <a:r>
              <a:rPr lang="en-US" altLang="zh-CN" sz="1200" dirty="0">
                <a:latin typeface="Times New Roman" panose="02020603050405020304" pitchFamily="18" charset="0"/>
                <a:cs typeface="Times New Roman" panose="02020603050405020304" pitchFamily="18" charset="0"/>
              </a:rPr>
              <a:t>;	/* Blocks of either 512 or </a:t>
            </a:r>
            <a:r>
              <a:rPr lang="en-US" altLang="zh-CN" sz="1200" dirty="0" err="1">
                <a:latin typeface="Times New Roman" panose="02020603050405020304" pitchFamily="18" charset="0"/>
                <a:cs typeface="Times New Roman" panose="02020603050405020304" pitchFamily="18" charset="0"/>
              </a:rPr>
              <a:t>block_size</a:t>
            </a:r>
            <a:r>
              <a:rPr lang="en-US" altLang="zh-CN" sz="1200" dirty="0">
                <a:latin typeface="Times New Roman" panose="02020603050405020304" pitchFamily="18" charset="0"/>
                <a:cs typeface="Times New Roman" panose="02020603050405020304" pitchFamily="18" charset="0"/>
              </a:rPr>
              <a:t> bytes */</a:t>
            </a:r>
          </a:p>
          <a:p>
            <a:r>
              <a:rPr lang="en-US" altLang="zh-CN" sz="1200" dirty="0">
                <a:latin typeface="Times New Roman" panose="02020603050405020304" pitchFamily="18" charset="0"/>
                <a:cs typeface="Times New Roman" panose="02020603050405020304" pitchFamily="18" charset="0"/>
              </a:rPr>
              <a:t>	__le32 flags;</a:t>
            </a:r>
          </a:p>
          <a:p>
            <a:r>
              <a:rPr lang="en-US" altLang="zh-CN" sz="1200" dirty="0">
                <a:latin typeface="Times New Roman" panose="02020603050405020304" pitchFamily="18" charset="0"/>
                <a:cs typeface="Times New Roman" panose="02020603050405020304" pitchFamily="18" charset="0"/>
              </a:rPr>
              <a:t>	__le32 osd1;</a:t>
            </a:r>
          </a:p>
          <a:p>
            <a:r>
              <a:rPr lang="en-US" altLang="zh-CN" sz="1200" dirty="0">
                <a:latin typeface="Times New Roman" panose="02020603050405020304" pitchFamily="18" charset="0"/>
                <a:cs typeface="Times New Roman" panose="02020603050405020304" pitchFamily="18" charset="0"/>
              </a:rPr>
              <a:t>	union {</a:t>
            </a:r>
          </a:p>
          <a:p>
            <a:r>
              <a:rPr lang="en-US" altLang="zh-CN" sz="1200" dirty="0">
                <a:latin typeface="Times New Roman" panose="02020603050405020304" pitchFamily="18" charset="0"/>
                <a:cs typeface="Times New Roman" panose="02020603050405020304" pitchFamily="18" charset="0"/>
              </a:rPr>
              <a:t>		</a:t>
            </a:r>
            <a:r>
              <a:rPr lang="en-US" altLang="zh-CN" sz="1200" dirty="0" err="1">
                <a:latin typeface="Times New Roman" panose="02020603050405020304" pitchFamily="18" charset="0"/>
                <a:cs typeface="Times New Roman" panose="02020603050405020304" pitchFamily="18" charset="0"/>
              </a:rPr>
              <a:t>struct</a:t>
            </a:r>
            <a:r>
              <a:rPr lang="en-US" altLang="zh-CN" sz="1200" dirty="0">
                <a:latin typeface="Times New Roman" panose="02020603050405020304" pitchFamily="18" charset="0"/>
                <a:cs typeface="Times New Roman" panose="02020603050405020304" pitchFamily="18" charset="0"/>
              </a:rPr>
              <a:t> </a:t>
            </a:r>
            <a:r>
              <a:rPr lang="en-US" altLang="zh-CN" sz="1200" dirty="0" err="1">
                <a:latin typeface="Times New Roman" panose="02020603050405020304" pitchFamily="18" charset="0"/>
                <a:cs typeface="Times New Roman" panose="02020603050405020304" pitchFamily="18" charset="0"/>
              </a:rPr>
              <a:t>datablocks</a:t>
            </a:r>
            <a:r>
              <a:rPr lang="en-US" altLang="zh-CN" sz="1200" dirty="0">
                <a:latin typeface="Times New Roman" panose="02020603050405020304" pitchFamily="18" charset="0"/>
                <a:cs typeface="Times New Roman" panose="02020603050405020304" pitchFamily="18" charset="0"/>
              </a:rPr>
              <a:t> {</a:t>
            </a:r>
          </a:p>
          <a:p>
            <a:r>
              <a:rPr lang="en-US" altLang="zh-CN" sz="1200" dirty="0">
                <a:latin typeface="Times New Roman" panose="02020603050405020304" pitchFamily="18" charset="0"/>
                <a:cs typeface="Times New Roman" panose="02020603050405020304" pitchFamily="18" charset="0"/>
              </a:rPr>
              <a:t>		</a:t>
            </a:r>
            <a:r>
              <a:rPr lang="en-US" altLang="zh-CN" sz="1200" dirty="0" smtClean="0">
                <a:latin typeface="Times New Roman" panose="02020603050405020304" pitchFamily="18" charset="0"/>
                <a:cs typeface="Times New Roman" panose="02020603050405020304" pitchFamily="18" charset="0"/>
              </a:rPr>
              <a:t>__</a:t>
            </a:r>
            <a:r>
              <a:rPr lang="en-US" altLang="zh-CN" sz="1200" dirty="0">
                <a:latin typeface="Times New Roman" panose="02020603050405020304" pitchFamily="18" charset="0"/>
                <a:cs typeface="Times New Roman" panose="02020603050405020304" pitchFamily="18" charset="0"/>
              </a:rPr>
              <a:t>le32 </a:t>
            </a:r>
            <a:r>
              <a:rPr lang="en-US" altLang="zh-CN" sz="1200" dirty="0" err="1">
                <a:latin typeface="Times New Roman" panose="02020603050405020304" pitchFamily="18" charset="0"/>
                <a:cs typeface="Times New Roman" panose="02020603050405020304" pitchFamily="18" charset="0"/>
              </a:rPr>
              <a:t>dir_blocks</a:t>
            </a:r>
            <a:r>
              <a:rPr lang="en-US" altLang="zh-CN" sz="1200" dirty="0">
                <a:latin typeface="Times New Roman" panose="02020603050405020304" pitchFamily="18" charset="0"/>
                <a:cs typeface="Times New Roman" panose="02020603050405020304" pitchFamily="18" charset="0"/>
              </a:rPr>
              <a:t>[INDIRECT_BLOCKS</a:t>
            </a:r>
            <a:r>
              <a:rPr lang="en-US" altLang="zh-CN" sz="1200" dirty="0" smtClean="0">
                <a:latin typeface="Times New Roman" panose="02020603050405020304" pitchFamily="18" charset="0"/>
                <a:cs typeface="Times New Roman" panose="02020603050405020304" pitchFamily="18" charset="0"/>
              </a:rPr>
              <a:t>];//</a:t>
            </a:r>
            <a:r>
              <a:rPr lang="zh-CN" altLang="en-US" sz="1200" dirty="0" smtClean="0">
                <a:latin typeface="Times New Roman" panose="02020603050405020304" pitchFamily="18" charset="0"/>
                <a:cs typeface="Times New Roman" panose="02020603050405020304" pitchFamily="18" charset="0"/>
              </a:rPr>
              <a:t>直接索引</a:t>
            </a:r>
            <a:endParaRPr lang="en-US"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a:t>
            </a:r>
            <a:r>
              <a:rPr lang="en-US" altLang="zh-CN" sz="1200" dirty="0" smtClean="0">
                <a:latin typeface="Times New Roman" panose="02020603050405020304" pitchFamily="18" charset="0"/>
                <a:cs typeface="Times New Roman" panose="02020603050405020304" pitchFamily="18" charset="0"/>
              </a:rPr>
              <a:t>__</a:t>
            </a:r>
            <a:r>
              <a:rPr lang="en-US" altLang="zh-CN" sz="1200" dirty="0">
                <a:latin typeface="Times New Roman" panose="02020603050405020304" pitchFamily="18" charset="0"/>
                <a:cs typeface="Times New Roman" panose="02020603050405020304" pitchFamily="18" charset="0"/>
              </a:rPr>
              <a:t>le32 </a:t>
            </a:r>
            <a:r>
              <a:rPr lang="en-US" altLang="zh-CN" sz="1200" dirty="0" err="1">
                <a:latin typeface="Times New Roman" panose="02020603050405020304" pitchFamily="18" charset="0"/>
                <a:cs typeface="Times New Roman" panose="02020603050405020304" pitchFamily="18" charset="0"/>
              </a:rPr>
              <a:t>indir_block</a:t>
            </a:r>
            <a:r>
              <a:rPr lang="en-US" altLang="zh-CN" sz="1200" dirty="0" smtClean="0">
                <a:latin typeface="Times New Roman" panose="02020603050405020304" pitchFamily="18" charset="0"/>
                <a:cs typeface="Times New Roman" panose="02020603050405020304" pitchFamily="18" charset="0"/>
              </a:rPr>
              <a:t>;//</a:t>
            </a:r>
            <a:r>
              <a:rPr lang="zh-CN" altLang="en-US" sz="1200" dirty="0" smtClean="0">
                <a:latin typeface="Times New Roman" panose="02020603050405020304" pitchFamily="18" charset="0"/>
                <a:cs typeface="Times New Roman" panose="02020603050405020304" pitchFamily="18" charset="0"/>
              </a:rPr>
              <a:t>一级间接索引</a:t>
            </a:r>
            <a:endParaRPr lang="en-US"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a:t>
            </a:r>
            <a:r>
              <a:rPr lang="en-US" altLang="zh-CN" sz="1200" dirty="0" smtClean="0">
                <a:latin typeface="Times New Roman" panose="02020603050405020304" pitchFamily="18" charset="0"/>
                <a:cs typeface="Times New Roman" panose="02020603050405020304" pitchFamily="18" charset="0"/>
              </a:rPr>
              <a:t>__</a:t>
            </a:r>
            <a:r>
              <a:rPr lang="en-US" altLang="zh-CN" sz="1200" dirty="0">
                <a:latin typeface="Times New Roman" panose="02020603050405020304" pitchFamily="18" charset="0"/>
                <a:cs typeface="Times New Roman" panose="02020603050405020304" pitchFamily="18" charset="0"/>
              </a:rPr>
              <a:t>le32 </a:t>
            </a:r>
            <a:r>
              <a:rPr lang="en-US" altLang="zh-CN" sz="1200" dirty="0" err="1">
                <a:latin typeface="Times New Roman" panose="02020603050405020304" pitchFamily="18" charset="0"/>
                <a:cs typeface="Times New Roman" panose="02020603050405020304" pitchFamily="18" charset="0"/>
              </a:rPr>
              <a:t>double_indir_block</a:t>
            </a:r>
            <a:r>
              <a:rPr lang="en-US" altLang="zh-CN" sz="1200" dirty="0" smtClean="0">
                <a:latin typeface="Times New Roman" panose="02020603050405020304" pitchFamily="18" charset="0"/>
                <a:cs typeface="Times New Roman" panose="02020603050405020304" pitchFamily="18" charset="0"/>
              </a:rPr>
              <a:t>;//</a:t>
            </a:r>
            <a:r>
              <a:rPr lang="zh-CN" altLang="en-US" sz="1200" dirty="0" smtClean="0">
                <a:latin typeface="Times New Roman" panose="02020603050405020304" pitchFamily="18" charset="0"/>
                <a:cs typeface="Times New Roman" panose="02020603050405020304" pitchFamily="18" charset="0"/>
              </a:rPr>
              <a:t>二级间接索引</a:t>
            </a:r>
            <a:endParaRPr lang="en-US"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a:t>
            </a:r>
            <a:r>
              <a:rPr lang="en-US" altLang="zh-CN" sz="1200" dirty="0" smtClean="0">
                <a:latin typeface="Times New Roman" panose="02020603050405020304" pitchFamily="18" charset="0"/>
                <a:cs typeface="Times New Roman" panose="02020603050405020304" pitchFamily="18" charset="0"/>
              </a:rPr>
              <a:t>_</a:t>
            </a:r>
            <a:r>
              <a:rPr lang="en-US" altLang="zh-CN" sz="1200" dirty="0">
                <a:latin typeface="Times New Roman" panose="02020603050405020304" pitchFamily="18" charset="0"/>
                <a:cs typeface="Times New Roman" panose="02020603050405020304" pitchFamily="18" charset="0"/>
              </a:rPr>
              <a:t>le32 </a:t>
            </a:r>
            <a:r>
              <a:rPr lang="en-US" altLang="zh-CN" sz="1200" dirty="0" err="1">
                <a:latin typeface="Times New Roman" panose="02020603050405020304" pitchFamily="18" charset="0"/>
                <a:cs typeface="Times New Roman" panose="02020603050405020304" pitchFamily="18" charset="0"/>
              </a:rPr>
              <a:t>triple_indir_block</a:t>
            </a:r>
            <a:r>
              <a:rPr lang="en-US" altLang="zh-CN" sz="1200" dirty="0" smtClean="0">
                <a:latin typeface="Times New Roman" panose="02020603050405020304" pitchFamily="18" charset="0"/>
                <a:cs typeface="Times New Roman" panose="02020603050405020304" pitchFamily="18" charset="0"/>
              </a:rPr>
              <a:t>;//</a:t>
            </a:r>
            <a:r>
              <a:rPr lang="zh-CN" altLang="en-US" sz="1200" dirty="0" smtClean="0">
                <a:latin typeface="Times New Roman" panose="02020603050405020304" pitchFamily="18" charset="0"/>
                <a:cs typeface="Times New Roman" panose="02020603050405020304" pitchFamily="18" charset="0"/>
              </a:rPr>
              <a:t>三级间接索引</a:t>
            </a:r>
            <a:endParaRPr lang="en-US"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		} blocks;</a:t>
            </a:r>
          </a:p>
          <a:p>
            <a:r>
              <a:rPr lang="en-US" altLang="zh-CN" sz="1200" dirty="0">
                <a:latin typeface="Times New Roman" panose="02020603050405020304" pitchFamily="18" charset="0"/>
                <a:cs typeface="Times New Roman" panose="02020603050405020304" pitchFamily="18" charset="0"/>
              </a:rPr>
              <a:t>		char </a:t>
            </a:r>
            <a:r>
              <a:rPr lang="en-US" altLang="zh-CN" sz="1200" dirty="0" err="1">
                <a:latin typeface="Times New Roman" panose="02020603050405020304" pitchFamily="18" charset="0"/>
                <a:cs typeface="Times New Roman" panose="02020603050405020304" pitchFamily="18" charset="0"/>
              </a:rPr>
              <a:t>symlink</a:t>
            </a:r>
            <a:r>
              <a:rPr lang="en-US" altLang="zh-CN" sz="1200" dirty="0">
                <a:latin typeface="Times New Roman" panose="02020603050405020304" pitchFamily="18" charset="0"/>
                <a:cs typeface="Times New Roman" panose="02020603050405020304" pitchFamily="18" charset="0"/>
              </a:rPr>
              <a:t>[60];</a:t>
            </a:r>
          </a:p>
          <a:p>
            <a:r>
              <a:rPr lang="en-US" altLang="zh-CN" sz="1200" dirty="0">
                <a:latin typeface="Times New Roman" panose="02020603050405020304" pitchFamily="18" charset="0"/>
                <a:cs typeface="Times New Roman" panose="02020603050405020304" pitchFamily="18" charset="0"/>
              </a:rPr>
              <a:t>		char </a:t>
            </a:r>
            <a:r>
              <a:rPr lang="en-US" altLang="zh-CN" sz="1200" dirty="0" err="1">
                <a:latin typeface="Times New Roman" panose="02020603050405020304" pitchFamily="18" charset="0"/>
                <a:cs typeface="Times New Roman" panose="02020603050405020304" pitchFamily="18" charset="0"/>
              </a:rPr>
              <a:t>inline_data</a:t>
            </a:r>
            <a:r>
              <a:rPr lang="en-US" altLang="zh-CN" sz="1200" dirty="0">
                <a:latin typeface="Times New Roman" panose="02020603050405020304" pitchFamily="18" charset="0"/>
                <a:cs typeface="Times New Roman" panose="02020603050405020304" pitchFamily="18" charset="0"/>
              </a:rPr>
              <a:t>[60];</a:t>
            </a:r>
          </a:p>
          <a:p>
            <a:r>
              <a:rPr lang="en-US" altLang="zh-CN" sz="1200" dirty="0">
                <a:latin typeface="Times New Roman" panose="02020603050405020304" pitchFamily="18" charset="0"/>
                <a:cs typeface="Times New Roman" panose="02020603050405020304" pitchFamily="18" charset="0"/>
              </a:rPr>
              <a:t>	} b;</a:t>
            </a:r>
          </a:p>
          <a:p>
            <a:r>
              <a:rPr lang="en-US" altLang="zh-CN" sz="1200" dirty="0">
                <a:latin typeface="Times New Roman" panose="02020603050405020304" pitchFamily="18" charset="0"/>
                <a:cs typeface="Times New Roman" panose="02020603050405020304" pitchFamily="18" charset="0"/>
              </a:rPr>
              <a:t>	__le32 version;</a:t>
            </a:r>
          </a:p>
          <a:p>
            <a:r>
              <a:rPr lang="en-US" altLang="zh-CN" sz="1200" dirty="0">
                <a:latin typeface="Times New Roman" panose="02020603050405020304" pitchFamily="18" charset="0"/>
                <a:cs typeface="Times New Roman" panose="02020603050405020304" pitchFamily="18" charset="0"/>
              </a:rPr>
              <a:t>	__le32 </a:t>
            </a:r>
            <a:r>
              <a:rPr lang="en-US" altLang="zh-CN" sz="1200" dirty="0" err="1">
                <a:latin typeface="Times New Roman" panose="02020603050405020304" pitchFamily="18" charset="0"/>
                <a:cs typeface="Times New Roman" panose="02020603050405020304" pitchFamily="18" charset="0"/>
              </a:rPr>
              <a:t>acl</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__le32 </a:t>
            </a:r>
            <a:r>
              <a:rPr lang="en-US" altLang="zh-CN" sz="1200" dirty="0" err="1">
                <a:latin typeface="Times New Roman" panose="02020603050405020304" pitchFamily="18" charset="0"/>
                <a:cs typeface="Times New Roman" panose="02020603050405020304" pitchFamily="18" charset="0"/>
              </a:rPr>
              <a:t>size_high</a:t>
            </a:r>
            <a:r>
              <a:rPr lang="en-US" altLang="zh-CN" sz="1200" dirty="0">
                <a:latin typeface="Times New Roman" panose="02020603050405020304" pitchFamily="18" charset="0"/>
                <a:cs typeface="Times New Roman" panose="02020603050405020304" pitchFamily="18" charset="0"/>
              </a:rPr>
              <a:t>;	/* previously </a:t>
            </a:r>
            <a:r>
              <a:rPr lang="en-US" altLang="zh-CN" sz="1200" dirty="0" err="1">
                <a:latin typeface="Times New Roman" panose="02020603050405020304" pitchFamily="18" charset="0"/>
                <a:cs typeface="Times New Roman" panose="02020603050405020304" pitchFamily="18" charset="0"/>
              </a:rPr>
              <a:t>dir_acl</a:t>
            </a:r>
            <a:r>
              <a:rPr lang="en-US" altLang="zh-CN" sz="1200" dirty="0">
                <a:latin typeface="Times New Roman" panose="02020603050405020304" pitchFamily="18" charset="0"/>
                <a:cs typeface="Times New Roman" panose="02020603050405020304" pitchFamily="18" charset="0"/>
              </a:rPr>
              <a:t>, but never used */</a:t>
            </a:r>
          </a:p>
          <a:p>
            <a:r>
              <a:rPr lang="en-US" altLang="zh-CN" sz="1200" dirty="0">
                <a:latin typeface="Times New Roman" panose="02020603050405020304" pitchFamily="18" charset="0"/>
                <a:cs typeface="Times New Roman" panose="02020603050405020304" pitchFamily="18" charset="0"/>
              </a:rPr>
              <a:t>	__le32 </a:t>
            </a:r>
            <a:r>
              <a:rPr lang="en-US" altLang="zh-CN" sz="1200" dirty="0" err="1">
                <a:latin typeface="Times New Roman" panose="02020603050405020304" pitchFamily="18" charset="0"/>
                <a:cs typeface="Times New Roman" panose="02020603050405020304" pitchFamily="18" charset="0"/>
              </a:rPr>
              <a:t>fragment_addr</a:t>
            </a:r>
            <a:r>
              <a:rPr lang="en-US" altLang="zh-CN" sz="1200" dirty="0">
                <a:latin typeface="Times New Roman" panose="02020603050405020304" pitchFamily="18" charset="0"/>
                <a:cs typeface="Times New Roman" panose="02020603050405020304" pitchFamily="18" charset="0"/>
              </a:rPr>
              <a:t>;</a:t>
            </a:r>
          </a:p>
          <a:p>
            <a:r>
              <a:rPr lang="en-US" altLang="zh-CN" sz="1200" dirty="0">
                <a:latin typeface="Times New Roman" panose="02020603050405020304" pitchFamily="18" charset="0"/>
                <a:cs typeface="Times New Roman" panose="02020603050405020304" pitchFamily="18" charset="0"/>
              </a:rPr>
              <a:t>	__le32 osd2[3];</a:t>
            </a:r>
          </a:p>
          <a:p>
            <a:r>
              <a:rPr lang="en-US" altLang="zh-CN" sz="1200" dirty="0">
                <a:latin typeface="Times New Roman" panose="02020603050405020304" pitchFamily="18" charset="0"/>
                <a:cs typeface="Times New Roman" panose="02020603050405020304" pitchFamily="18" charset="0"/>
              </a:rPr>
              <a:t>};</a:t>
            </a:r>
            <a:endParaRPr lang="en-US" altLang="zh-CN" sz="1200" dirty="0" smtClean="0">
              <a:latin typeface="Times New Roman" panose="02020603050405020304" pitchFamily="18" charset="0"/>
              <a:cs typeface="Times New Roman" panose="02020603050405020304" pitchFamily="18" charset="0"/>
            </a:endParaRPr>
          </a:p>
        </p:txBody>
      </p:sp>
      <p:sp>
        <p:nvSpPr>
          <p:cNvPr id="6" name="矩形 5"/>
          <p:cNvSpPr/>
          <p:nvPr/>
        </p:nvSpPr>
        <p:spPr>
          <a:xfrm>
            <a:off x="6228812" y="1392375"/>
            <a:ext cx="5832648" cy="923330"/>
          </a:xfrm>
          <a:prstGeom prst="rect">
            <a:avLst/>
          </a:prstGeom>
        </p:spPr>
        <p:txBody>
          <a:bodyPr vert="horz" wrap="square">
            <a:spAutoFit/>
          </a:bodyPr>
          <a:lstStyle/>
          <a:p>
            <a:r>
              <a:rPr lang="en-US" altLang="zh-CN" dirty="0" smtClean="0">
                <a:solidFill>
                  <a:srgbClr val="000000"/>
                </a:solidFill>
              </a:rPr>
              <a:t>Ext2</a:t>
            </a:r>
            <a:r>
              <a:rPr lang="zh-CN" altLang="en-US" dirty="0" smtClean="0">
                <a:solidFill>
                  <a:srgbClr val="000000"/>
                </a:solidFill>
              </a:rPr>
              <a:t>的</a:t>
            </a:r>
            <a:r>
              <a:rPr lang="zh-CN" altLang="en-US" dirty="0">
                <a:solidFill>
                  <a:srgbClr val="000000"/>
                </a:solidFill>
              </a:rPr>
              <a:t>存储</a:t>
            </a:r>
            <a:r>
              <a:rPr lang="zh-CN" altLang="en-US" dirty="0" smtClean="0">
                <a:solidFill>
                  <a:srgbClr val="000000"/>
                </a:solidFill>
              </a:rPr>
              <a:t>格式</a:t>
            </a:r>
            <a:r>
              <a:rPr lang="zh-CN" altLang="en-US" dirty="0">
                <a:solidFill>
                  <a:srgbClr val="000000"/>
                </a:solidFill>
              </a:rPr>
              <a:t>是</a:t>
            </a:r>
            <a:r>
              <a:rPr lang="en-US" altLang="zh-CN" dirty="0">
                <a:solidFill>
                  <a:srgbClr val="000000"/>
                </a:solidFill>
              </a:rPr>
              <a:t>12</a:t>
            </a:r>
            <a:r>
              <a:rPr lang="zh-CN" altLang="en-US" dirty="0">
                <a:solidFill>
                  <a:srgbClr val="000000"/>
                </a:solidFill>
              </a:rPr>
              <a:t>个块直接存储文件数据，超过的部分，分别用一级间接索引、二级间接索引、三级间接索引</a:t>
            </a:r>
            <a:r>
              <a:rPr lang="zh-CN" altLang="en-US" dirty="0" smtClean="0">
                <a:solidFill>
                  <a:srgbClr val="000000"/>
                </a:solidFill>
              </a:rPr>
              <a:t>表示</a:t>
            </a:r>
            <a:endParaRPr lang="en-US" altLang="zh-CN" dirty="0" smtClean="0">
              <a:solidFill>
                <a:srgbClr val="000000"/>
              </a:solidFill>
            </a:endParaRPr>
          </a:p>
        </p:txBody>
      </p:sp>
    </p:spTree>
    <p:extLst>
      <p:ext uri="{BB962C8B-B14F-4D97-AF65-F5344CB8AC3E}">
        <p14:creationId xmlns:p14="http://schemas.microsoft.com/office/powerpoint/2010/main" val="3464959678"/>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16</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731564" cy="369332"/>
          </a:xfrm>
          <a:prstGeom prst="rect">
            <a:avLst/>
          </a:prstGeom>
        </p:spPr>
        <p:txBody>
          <a:bodyPr wrap="none">
            <a:spAutoFit/>
          </a:bodyPr>
          <a:lstStyle/>
          <a:p>
            <a:r>
              <a:rPr lang="en-US" altLang="zh-CN" b="1" dirty="0"/>
              <a:t>2.4 </a:t>
            </a:r>
            <a:r>
              <a:rPr lang="zh-CN" altLang="en-US" b="1" dirty="0"/>
              <a:t>非连续存储</a:t>
            </a:r>
            <a:endParaRPr lang="en-US" altLang="zh-CN" b="1" dirty="0"/>
          </a:p>
        </p:txBody>
      </p:sp>
      <p:sp>
        <p:nvSpPr>
          <p:cNvPr id="6" name="矩形 5"/>
          <p:cNvSpPr/>
          <p:nvPr/>
        </p:nvSpPr>
        <p:spPr>
          <a:xfrm>
            <a:off x="1199456" y="1639954"/>
            <a:ext cx="9505056" cy="1754326"/>
          </a:xfrm>
          <a:prstGeom prst="rect">
            <a:avLst/>
          </a:prstGeom>
        </p:spPr>
        <p:txBody>
          <a:bodyPr vert="horz" wrap="square">
            <a:spAutoFit/>
          </a:bodyPr>
          <a:lstStyle/>
          <a:p>
            <a:r>
              <a:rPr lang="zh-CN" altLang="en-US" dirty="0"/>
              <a:t>所以对于</a:t>
            </a:r>
            <a:r>
              <a:rPr lang="en-US" altLang="zh-CN" dirty="0"/>
              <a:t>1KB</a:t>
            </a:r>
            <a:r>
              <a:rPr lang="zh-CN" altLang="en-US" dirty="0"/>
              <a:t>的块大小</a:t>
            </a:r>
            <a:r>
              <a:rPr lang="zh-CN" altLang="en-US" dirty="0" smtClean="0"/>
              <a:t>最大的文件系统最大能存储多大的文件呢？</a:t>
            </a:r>
            <a:endParaRPr lang="en-US" altLang="zh-CN" dirty="0">
              <a:solidFill>
                <a:srgbClr val="000000"/>
              </a:solidFill>
            </a:endParaRPr>
          </a:p>
          <a:p>
            <a:r>
              <a:rPr lang="en-US" altLang="zh-CN" dirty="0"/>
              <a:t>12</a:t>
            </a:r>
            <a:r>
              <a:rPr lang="zh-CN" altLang="en-US" dirty="0"/>
              <a:t>个直接存储</a:t>
            </a:r>
            <a:r>
              <a:rPr lang="zh-CN" altLang="en-US" dirty="0" smtClean="0"/>
              <a:t>，</a:t>
            </a:r>
            <a:r>
              <a:rPr lang="en-US" altLang="zh-CN" dirty="0" smtClean="0"/>
              <a:t>12KB</a:t>
            </a:r>
            <a:r>
              <a:rPr lang="zh-CN" altLang="en-US" dirty="0" smtClean="0"/>
              <a:t>。</a:t>
            </a:r>
            <a:r>
              <a:rPr lang="zh-CN" altLang="en-US" dirty="0"/>
              <a:t/>
            </a:r>
            <a:br>
              <a:rPr lang="zh-CN" altLang="en-US" dirty="0"/>
            </a:br>
            <a:r>
              <a:rPr lang="zh-CN" altLang="en-US" dirty="0"/>
              <a:t>一级间接寻址：</a:t>
            </a:r>
            <a:r>
              <a:rPr lang="en-US" altLang="zh-CN" dirty="0" smtClean="0"/>
              <a:t>1024/4*1KB=256KB</a:t>
            </a:r>
            <a:r>
              <a:rPr lang="zh-CN" altLang="en-US" dirty="0"/>
              <a:t>。</a:t>
            </a:r>
            <a:br>
              <a:rPr lang="zh-CN" altLang="en-US" dirty="0"/>
            </a:br>
            <a:r>
              <a:rPr lang="zh-CN" altLang="en-US" dirty="0"/>
              <a:t>二级间接寻址</a:t>
            </a:r>
            <a:r>
              <a:rPr lang="zh-CN" altLang="en-US" dirty="0" smtClean="0"/>
              <a:t>，</a:t>
            </a:r>
            <a:r>
              <a:rPr lang="en-US" altLang="zh-CN" dirty="0" smtClean="0"/>
              <a:t>256</a:t>
            </a:r>
            <a:r>
              <a:rPr lang="en-US" altLang="zh-CN" dirty="0"/>
              <a:t>* </a:t>
            </a:r>
            <a:r>
              <a:rPr lang="en-US" altLang="zh-CN" dirty="0"/>
              <a:t>256*1KB=64M</a:t>
            </a:r>
            <a:r>
              <a:rPr lang="zh-CN" altLang="en-US" dirty="0" smtClean="0"/>
              <a:t>。</a:t>
            </a:r>
            <a:r>
              <a:rPr lang="zh-CN" altLang="en-US" dirty="0"/>
              <a:t/>
            </a:r>
            <a:br>
              <a:rPr lang="zh-CN" altLang="en-US" dirty="0"/>
            </a:br>
            <a:r>
              <a:rPr lang="zh-CN" altLang="en-US" dirty="0"/>
              <a:t>三级间接寻址</a:t>
            </a:r>
            <a:r>
              <a:rPr lang="zh-CN" altLang="en-US" dirty="0" smtClean="0"/>
              <a:t>，</a:t>
            </a:r>
            <a:r>
              <a:rPr lang="en-US" altLang="zh-CN" dirty="0" smtClean="0"/>
              <a:t>256 </a:t>
            </a:r>
            <a:r>
              <a:rPr lang="en-US" altLang="zh-CN" dirty="0"/>
              <a:t>* 256 *</a:t>
            </a:r>
            <a:r>
              <a:rPr lang="en-US" altLang="zh-CN" dirty="0"/>
              <a:t>256*1KB=16GB</a:t>
            </a:r>
            <a:r>
              <a:rPr lang="zh-CN" altLang="en-US" dirty="0" smtClean="0"/>
              <a:t>。</a:t>
            </a:r>
            <a:endParaRPr lang="en-US" altLang="zh-CN" dirty="0" smtClean="0"/>
          </a:p>
          <a:p>
            <a:r>
              <a:rPr lang="zh-CN" altLang="en-US" dirty="0">
                <a:solidFill>
                  <a:srgbClr val="000000"/>
                </a:solidFill>
              </a:rPr>
              <a:t>所以</a:t>
            </a:r>
            <a:r>
              <a:rPr lang="en-US" altLang="zh-CN" dirty="0" smtClean="0">
                <a:solidFill>
                  <a:srgbClr val="000000"/>
                </a:solidFill>
              </a:rPr>
              <a:t>ext2</a:t>
            </a:r>
            <a:r>
              <a:rPr lang="zh-CN" altLang="en-US" dirty="0">
                <a:solidFill>
                  <a:srgbClr val="000000"/>
                </a:solidFill>
              </a:rPr>
              <a:t>最大能</a:t>
            </a:r>
            <a:r>
              <a:rPr lang="zh-CN" altLang="en-US" dirty="0" smtClean="0">
                <a:solidFill>
                  <a:srgbClr val="000000"/>
                </a:solidFill>
              </a:rPr>
              <a:t>存储约为</a:t>
            </a:r>
            <a:r>
              <a:rPr lang="en-US" altLang="zh-CN" dirty="0" smtClean="0">
                <a:solidFill>
                  <a:srgbClr val="000000"/>
                </a:solidFill>
              </a:rPr>
              <a:t>16GB</a:t>
            </a:r>
            <a:r>
              <a:rPr lang="zh-CN" altLang="en-US" dirty="0">
                <a:solidFill>
                  <a:srgbClr val="000000"/>
                </a:solidFill>
              </a:rPr>
              <a:t>单个</a:t>
            </a:r>
            <a:r>
              <a:rPr lang="zh-CN" altLang="en-US" dirty="0" smtClean="0">
                <a:solidFill>
                  <a:srgbClr val="000000"/>
                </a:solidFill>
              </a:rPr>
              <a:t>文件</a:t>
            </a:r>
            <a:endParaRPr lang="en-US" altLang="zh-CN" dirty="0"/>
          </a:p>
        </p:txBody>
      </p:sp>
    </p:spTree>
    <p:extLst>
      <p:ext uri="{BB962C8B-B14F-4D97-AF65-F5344CB8AC3E}">
        <p14:creationId xmlns:p14="http://schemas.microsoft.com/office/powerpoint/2010/main" val="2730497388"/>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17</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266693" cy="369332"/>
          </a:xfrm>
          <a:prstGeom prst="rect">
            <a:avLst/>
          </a:prstGeom>
        </p:spPr>
        <p:txBody>
          <a:bodyPr wrap="none">
            <a:spAutoFit/>
          </a:bodyPr>
          <a:lstStyle/>
          <a:p>
            <a:r>
              <a:rPr lang="en-US" altLang="zh-CN" b="1" dirty="0" smtClean="0"/>
              <a:t>2.5 </a:t>
            </a:r>
            <a:r>
              <a:rPr lang="zh-CN" altLang="en-US" b="1" dirty="0" smtClean="0"/>
              <a:t>超级块</a:t>
            </a:r>
            <a:endParaRPr lang="en-US" altLang="zh-CN" b="1" dirty="0"/>
          </a:p>
        </p:txBody>
      </p:sp>
      <p:sp>
        <p:nvSpPr>
          <p:cNvPr id="7" name="矩形 6"/>
          <p:cNvSpPr/>
          <p:nvPr/>
        </p:nvSpPr>
        <p:spPr>
          <a:xfrm>
            <a:off x="695400" y="5589240"/>
            <a:ext cx="11017224" cy="369332"/>
          </a:xfrm>
          <a:prstGeom prst="rect">
            <a:avLst/>
          </a:prstGeom>
        </p:spPr>
        <p:txBody>
          <a:bodyPr vert="horz" wrap="square">
            <a:spAutoFit/>
          </a:bodyPr>
          <a:lstStyle/>
          <a:p>
            <a:r>
              <a:rPr lang="zh-CN" altLang="en-US" b="1" dirty="0" smtClean="0"/>
              <a:t>超级块：</a:t>
            </a:r>
            <a:r>
              <a:rPr lang="zh-CN" altLang="en-US" dirty="0" smtClean="0"/>
              <a:t>记录文件系统的的</a:t>
            </a:r>
            <a:r>
              <a:rPr lang="zh-CN" altLang="en-US" dirty="0"/>
              <a:t>整体信息，包括</a:t>
            </a:r>
            <a:r>
              <a:rPr lang="en-US" altLang="zh-CN" dirty="0" err="1" smtClean="0"/>
              <a:t>inode</a:t>
            </a:r>
            <a:r>
              <a:rPr lang="zh-CN" altLang="en-US" dirty="0"/>
              <a:t>、</a:t>
            </a:r>
            <a:r>
              <a:rPr lang="en-US" altLang="zh-CN" dirty="0" smtClean="0"/>
              <a:t>block</a:t>
            </a:r>
            <a:r>
              <a:rPr lang="zh-CN" altLang="en-US" dirty="0"/>
              <a:t>的总量、使用量、剩余量， </a:t>
            </a:r>
            <a:r>
              <a:rPr lang="zh-CN" altLang="en-US" dirty="0" smtClean="0"/>
              <a:t>以及文件系统的格式等</a:t>
            </a:r>
            <a:endParaRPr lang="zh-CN" altLang="en-US" dirty="0"/>
          </a:p>
        </p:txBody>
      </p:sp>
      <p:pic>
        <p:nvPicPr>
          <p:cNvPr id="5" name="图片 4"/>
          <p:cNvPicPr>
            <a:picLocks noChangeAspect="1"/>
          </p:cNvPicPr>
          <p:nvPr/>
        </p:nvPicPr>
        <p:blipFill>
          <a:blip r:embed="rId3"/>
          <a:stretch>
            <a:fillRect/>
          </a:stretch>
        </p:blipFill>
        <p:spPr>
          <a:xfrm>
            <a:off x="2783632" y="1426036"/>
            <a:ext cx="6517577" cy="3211731"/>
          </a:xfrm>
          <a:prstGeom prst="rect">
            <a:avLst/>
          </a:prstGeom>
        </p:spPr>
      </p:pic>
    </p:spTree>
    <p:extLst>
      <p:ext uri="{BB962C8B-B14F-4D97-AF65-F5344CB8AC3E}">
        <p14:creationId xmlns:p14="http://schemas.microsoft.com/office/powerpoint/2010/main" val="2508000128"/>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18</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499128" cy="369332"/>
          </a:xfrm>
          <a:prstGeom prst="rect">
            <a:avLst/>
          </a:prstGeom>
        </p:spPr>
        <p:txBody>
          <a:bodyPr wrap="none">
            <a:spAutoFit/>
          </a:bodyPr>
          <a:lstStyle/>
          <a:p>
            <a:r>
              <a:rPr lang="en-US" altLang="zh-CN" b="1" dirty="0" smtClean="0"/>
              <a:t>2.6 </a:t>
            </a:r>
            <a:r>
              <a:rPr lang="zh-CN" altLang="en-US" b="1" dirty="0" smtClean="0"/>
              <a:t>块描述符</a:t>
            </a:r>
            <a:endParaRPr lang="en-US" altLang="zh-CN" b="1" dirty="0"/>
          </a:p>
        </p:txBody>
      </p:sp>
      <p:sp>
        <p:nvSpPr>
          <p:cNvPr id="7" name="矩形 6"/>
          <p:cNvSpPr/>
          <p:nvPr/>
        </p:nvSpPr>
        <p:spPr>
          <a:xfrm>
            <a:off x="839416" y="5619242"/>
            <a:ext cx="10729192" cy="369332"/>
          </a:xfrm>
          <a:prstGeom prst="rect">
            <a:avLst/>
          </a:prstGeom>
        </p:spPr>
        <p:txBody>
          <a:bodyPr vert="horz" wrap="square">
            <a:spAutoFit/>
          </a:bodyPr>
          <a:lstStyle/>
          <a:p>
            <a:r>
              <a:rPr lang="zh-CN" altLang="en-US" b="1" dirty="0"/>
              <a:t>块</a:t>
            </a:r>
            <a:r>
              <a:rPr lang="zh-CN" altLang="en-US" b="1" dirty="0" smtClean="0"/>
              <a:t>描述符记录</a:t>
            </a:r>
            <a:r>
              <a:rPr lang="zh-CN" altLang="en-US" dirty="0" smtClean="0"/>
              <a:t>：记录块</a:t>
            </a:r>
            <a:r>
              <a:rPr lang="zh-CN" altLang="en-US" dirty="0" smtClean="0"/>
              <a:t>位图</a:t>
            </a:r>
            <a:r>
              <a:rPr lang="zh-CN" altLang="en-US" dirty="0"/>
              <a:t>、</a:t>
            </a:r>
            <a:r>
              <a:rPr lang="en-US" altLang="zh-CN" dirty="0" err="1"/>
              <a:t>inode</a:t>
            </a:r>
            <a:r>
              <a:rPr lang="zh-CN" altLang="en-US" dirty="0"/>
              <a:t>位图、</a:t>
            </a:r>
            <a:r>
              <a:rPr lang="en-US" altLang="zh-CN" dirty="0" err="1"/>
              <a:t>inode</a:t>
            </a:r>
            <a:r>
              <a:rPr lang="zh-CN" altLang="en-US" dirty="0"/>
              <a:t>表所在块</a:t>
            </a:r>
            <a:r>
              <a:rPr lang="zh-CN" altLang="en-US" dirty="0" smtClean="0"/>
              <a:t>号</a:t>
            </a:r>
            <a:endParaRPr lang="en-US" altLang="zh-CN" dirty="0"/>
          </a:p>
        </p:txBody>
      </p:sp>
      <p:pic>
        <p:nvPicPr>
          <p:cNvPr id="6" name="图片 5"/>
          <p:cNvPicPr>
            <a:picLocks noChangeAspect="1"/>
          </p:cNvPicPr>
          <p:nvPr/>
        </p:nvPicPr>
        <p:blipFill>
          <a:blip r:embed="rId3"/>
          <a:stretch>
            <a:fillRect/>
          </a:stretch>
        </p:blipFill>
        <p:spPr>
          <a:xfrm>
            <a:off x="2567608" y="1847023"/>
            <a:ext cx="6499176" cy="2764194"/>
          </a:xfrm>
          <a:prstGeom prst="rect">
            <a:avLst/>
          </a:prstGeom>
        </p:spPr>
      </p:pic>
    </p:spTree>
    <p:extLst>
      <p:ext uri="{BB962C8B-B14F-4D97-AF65-F5344CB8AC3E}">
        <p14:creationId xmlns:p14="http://schemas.microsoft.com/office/powerpoint/2010/main" val="172943819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19</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499128" cy="369332"/>
          </a:xfrm>
          <a:prstGeom prst="rect">
            <a:avLst/>
          </a:prstGeom>
        </p:spPr>
        <p:txBody>
          <a:bodyPr wrap="none">
            <a:spAutoFit/>
          </a:bodyPr>
          <a:lstStyle/>
          <a:p>
            <a:r>
              <a:rPr lang="en-US" altLang="zh-CN" b="1" dirty="0" smtClean="0"/>
              <a:t>2.7 </a:t>
            </a:r>
            <a:r>
              <a:rPr lang="zh-CN" altLang="en-US" b="1" dirty="0" smtClean="0"/>
              <a:t>目录文件</a:t>
            </a:r>
            <a:endParaRPr lang="en-US" altLang="zh-CN" b="1" dirty="0"/>
          </a:p>
        </p:txBody>
      </p:sp>
      <p:sp>
        <p:nvSpPr>
          <p:cNvPr id="7" name="AutoShape 2" descr="https://imgconvert.csdnimg.cn/aHR0cHM6Ly9tbWJpei5xcGljLmNuL21tYml6X3BuZy9HTGVoNDJ1SW5YUlBwR2RiMXJMVk91VTlmZ011TGlhRGZVSE9nTEc5M1N1YVJLVlF4N0t3dndFTWtpYlhpYlVCaWFoazJ6UEdIeEpFbGx3OXlHSWlhRUhPWjd3LzY0MA?x-oss-process=image/format,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4" descr="https://imgconvert.csdnimg.cn/aHR0cHM6Ly9tbWJpei5xcGljLmNuL21tYml6X3BuZy9HTGVoNDJ1SW5YUlBwR2RiMXJMVk91VTlmZ011TGlhRGZVSE9nTEc5M1N1YVJLVlF4N0t3dndFTWtpYlhpYlVCaWFoazJ6UEdIeEpFbGx3OXlHSWlhRUhPWjd3LzY0MA?x-oss-process=image/format,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矩形 12"/>
          <p:cNvSpPr/>
          <p:nvPr/>
        </p:nvSpPr>
        <p:spPr>
          <a:xfrm>
            <a:off x="815469" y="5036067"/>
            <a:ext cx="10729192" cy="923330"/>
          </a:xfrm>
          <a:prstGeom prst="rect">
            <a:avLst/>
          </a:prstGeom>
        </p:spPr>
        <p:txBody>
          <a:bodyPr vert="horz" wrap="square">
            <a:spAutoFit/>
          </a:bodyPr>
          <a:lstStyle/>
          <a:p>
            <a:r>
              <a:rPr lang="zh-CN" altLang="en-US" dirty="0" smtClean="0"/>
              <a:t>如果文件都放在一起就看起来</a:t>
            </a:r>
            <a:r>
              <a:rPr lang="zh-CN" altLang="en-US" dirty="0"/>
              <a:t>很</a:t>
            </a:r>
            <a:r>
              <a:rPr lang="zh-CN" altLang="en-US" dirty="0" smtClean="0"/>
              <a:t>乱（如左图</a:t>
            </a:r>
            <a:r>
              <a:rPr lang="zh-CN" altLang="en-US" dirty="0"/>
              <a:t>所示）</a:t>
            </a:r>
            <a:endParaRPr lang="en-US" altLang="zh-CN" dirty="0" smtClean="0"/>
          </a:p>
          <a:p>
            <a:r>
              <a:rPr lang="zh-CN" altLang="en-US" dirty="0" smtClean="0"/>
              <a:t>如果我们想把相似的文件整合起来，就需要引入目录，将相似的文件放在同一个目录下，这样看起来更有条理（如右图所示）</a:t>
            </a:r>
            <a:endParaRPr lang="en-US" altLang="zh-CN" dirty="0"/>
          </a:p>
        </p:txBody>
      </p:sp>
      <p:sp>
        <p:nvSpPr>
          <p:cNvPr id="5" name="矩形 4"/>
          <p:cNvSpPr/>
          <p:nvPr/>
        </p:nvSpPr>
        <p:spPr>
          <a:xfrm>
            <a:off x="815469" y="2060369"/>
            <a:ext cx="6096000" cy="1754326"/>
          </a:xfrm>
          <a:prstGeom prst="rect">
            <a:avLst/>
          </a:prstGeom>
        </p:spPr>
        <p:txBody>
          <a:bodyPr>
            <a:spAutoFit/>
          </a:bodyPr>
          <a:lstStyle/>
          <a:p>
            <a:pPr>
              <a:buFont typeface="Arial" panose="020B0604020202020204" pitchFamily="34" charset="0"/>
              <a:buChar char="•"/>
            </a:pPr>
            <a:r>
              <a:rPr lang="zh-CN" altLang="en-US" dirty="0" smtClean="0">
                <a:solidFill>
                  <a:srgbClr val="4D4D4D"/>
                </a:solidFill>
                <a:latin typeface="-apple-system"/>
              </a:rPr>
              <a:t>数学期末复习资料</a:t>
            </a:r>
            <a:r>
              <a:rPr lang="en-US" altLang="zh-CN" dirty="0" smtClean="0">
                <a:solidFill>
                  <a:srgbClr val="4D4D4D"/>
                </a:solidFill>
                <a:latin typeface="-apple-system"/>
              </a:rPr>
              <a:t>.mp4</a:t>
            </a:r>
          </a:p>
          <a:p>
            <a:pPr>
              <a:buFont typeface="Arial" panose="020B0604020202020204" pitchFamily="34" charset="0"/>
              <a:buChar char="•"/>
            </a:pPr>
            <a:r>
              <a:rPr lang="zh-CN" altLang="en-US" dirty="0" smtClean="0">
                <a:solidFill>
                  <a:srgbClr val="4D4D4D"/>
                </a:solidFill>
                <a:latin typeface="-apple-system"/>
              </a:rPr>
              <a:t>赘婿</a:t>
            </a:r>
            <a:r>
              <a:rPr lang="en-US" altLang="zh-CN" dirty="0" smtClean="0">
                <a:solidFill>
                  <a:srgbClr val="4D4D4D"/>
                </a:solidFill>
                <a:latin typeface="-apple-system"/>
              </a:rPr>
              <a:t>1.mp4</a:t>
            </a:r>
          </a:p>
          <a:p>
            <a:pPr>
              <a:buFont typeface="Arial" panose="020B0604020202020204" pitchFamily="34" charset="0"/>
              <a:buChar char="•"/>
            </a:pPr>
            <a:r>
              <a:rPr lang="zh-CN" altLang="en-US" dirty="0" smtClean="0">
                <a:solidFill>
                  <a:srgbClr val="4D4D4D"/>
                </a:solidFill>
                <a:latin typeface="-apple-system"/>
              </a:rPr>
              <a:t>赘婿</a:t>
            </a:r>
            <a:r>
              <a:rPr lang="en-US" altLang="zh-CN" dirty="0" smtClean="0">
                <a:solidFill>
                  <a:srgbClr val="4D4D4D"/>
                </a:solidFill>
                <a:latin typeface="-apple-system"/>
              </a:rPr>
              <a:t>2.mp4</a:t>
            </a:r>
          </a:p>
          <a:p>
            <a:pPr>
              <a:buFont typeface="Arial" panose="020B0604020202020204" pitchFamily="34" charset="0"/>
              <a:buChar char="•"/>
            </a:pPr>
            <a:r>
              <a:rPr lang="zh-CN" altLang="en-US" dirty="0" smtClean="0">
                <a:solidFill>
                  <a:srgbClr val="4D4D4D"/>
                </a:solidFill>
                <a:latin typeface="-apple-system"/>
              </a:rPr>
              <a:t>赘婿</a:t>
            </a:r>
            <a:r>
              <a:rPr lang="en-US" altLang="zh-CN" dirty="0" smtClean="0">
                <a:solidFill>
                  <a:srgbClr val="4D4D4D"/>
                </a:solidFill>
                <a:latin typeface="-apple-system"/>
              </a:rPr>
              <a:t>3.mp4</a:t>
            </a:r>
          </a:p>
          <a:p>
            <a:pPr>
              <a:buFont typeface="Arial" panose="020B0604020202020204" pitchFamily="34" charset="0"/>
              <a:buChar char="•"/>
            </a:pPr>
            <a:r>
              <a:rPr lang="zh-CN" altLang="en-US" dirty="0" smtClean="0">
                <a:solidFill>
                  <a:srgbClr val="4D4D4D"/>
                </a:solidFill>
                <a:latin typeface="-apple-system"/>
              </a:rPr>
              <a:t>赘婿</a:t>
            </a:r>
            <a:r>
              <a:rPr lang="en-US" altLang="zh-CN" dirty="0" smtClean="0">
                <a:solidFill>
                  <a:srgbClr val="4D4D4D"/>
                </a:solidFill>
                <a:latin typeface="-apple-system"/>
              </a:rPr>
              <a:t>4.mp4</a:t>
            </a:r>
          </a:p>
          <a:p>
            <a:pPr>
              <a:buFont typeface="Arial" panose="020B0604020202020204" pitchFamily="34" charset="0"/>
              <a:buChar char="•"/>
            </a:pPr>
            <a:r>
              <a:rPr lang="zh-CN" altLang="en-US" dirty="0" smtClean="0">
                <a:solidFill>
                  <a:srgbClr val="4D4D4D"/>
                </a:solidFill>
                <a:latin typeface="-apple-system"/>
              </a:rPr>
              <a:t>低并发编程的秘密</a:t>
            </a:r>
            <a:r>
              <a:rPr lang="en-US" altLang="zh-CN" dirty="0" smtClean="0">
                <a:solidFill>
                  <a:srgbClr val="4D4D4D"/>
                </a:solidFill>
                <a:latin typeface="-apple-system"/>
              </a:rPr>
              <a:t>.pdf</a:t>
            </a:r>
            <a:endParaRPr lang="en-US" altLang="zh-CN" b="0" i="0" dirty="0">
              <a:solidFill>
                <a:srgbClr val="4D4D4D"/>
              </a:solidFill>
              <a:effectLst/>
              <a:latin typeface="-apple-system"/>
            </a:endParaRPr>
          </a:p>
        </p:txBody>
      </p:sp>
      <p:sp>
        <p:nvSpPr>
          <p:cNvPr id="6" name="矩形 5"/>
          <p:cNvSpPr/>
          <p:nvPr/>
        </p:nvSpPr>
        <p:spPr>
          <a:xfrm>
            <a:off x="6312024" y="2060369"/>
            <a:ext cx="6096000" cy="2031325"/>
          </a:xfrm>
          <a:prstGeom prst="rect">
            <a:avLst/>
          </a:prstGeom>
        </p:spPr>
        <p:txBody>
          <a:bodyPr>
            <a:spAutoFit/>
          </a:bodyPr>
          <a:lstStyle/>
          <a:p>
            <a:pPr>
              <a:buFont typeface="Arial" panose="020B0604020202020204" pitchFamily="34" charset="0"/>
              <a:buChar char="•"/>
            </a:pPr>
            <a:r>
              <a:rPr lang="zh-CN" altLang="en-US" dirty="0">
                <a:solidFill>
                  <a:srgbClr val="4D4D4D"/>
                </a:solidFill>
                <a:latin typeface="-apple-system"/>
              </a:rPr>
              <a:t>数学期末复习资料</a:t>
            </a:r>
            <a:r>
              <a:rPr lang="en-US" altLang="zh-CN" dirty="0">
                <a:solidFill>
                  <a:srgbClr val="4D4D4D"/>
                </a:solidFill>
                <a:latin typeface="-apple-system"/>
              </a:rPr>
              <a:t>.mp4</a:t>
            </a:r>
          </a:p>
          <a:p>
            <a:pPr>
              <a:buFont typeface="Arial" panose="020B0604020202020204" pitchFamily="34" charset="0"/>
              <a:buChar char="•"/>
            </a:pPr>
            <a:r>
              <a:rPr lang="zh-CN" altLang="en-US" dirty="0" smtClean="0">
                <a:solidFill>
                  <a:srgbClr val="4D4D4D"/>
                </a:solidFill>
                <a:latin typeface="-apple-system"/>
              </a:rPr>
              <a:t>赘婿（目录）</a:t>
            </a:r>
            <a:endParaRPr lang="zh-CN" altLang="en-US" dirty="0">
              <a:solidFill>
                <a:srgbClr val="4D4D4D"/>
              </a:solidFill>
              <a:latin typeface="-apple-system"/>
            </a:endParaRPr>
          </a:p>
          <a:p>
            <a:pPr marL="742950" lvl="1" indent="-285750">
              <a:buFont typeface="Arial" panose="020B0604020202020204" pitchFamily="34" charset="0"/>
              <a:buChar char="•"/>
            </a:pPr>
            <a:r>
              <a:rPr lang="zh-CN" altLang="en-US" dirty="0">
                <a:solidFill>
                  <a:srgbClr val="4D4D4D"/>
                </a:solidFill>
                <a:latin typeface="-apple-system"/>
              </a:rPr>
              <a:t>赘婿</a:t>
            </a:r>
            <a:r>
              <a:rPr lang="en-US" altLang="zh-CN" dirty="0">
                <a:solidFill>
                  <a:srgbClr val="4D4D4D"/>
                </a:solidFill>
                <a:latin typeface="-apple-system"/>
              </a:rPr>
              <a:t>1.mp4</a:t>
            </a:r>
          </a:p>
          <a:p>
            <a:pPr marL="742950" lvl="1" indent="-285750">
              <a:buFont typeface="Arial" panose="020B0604020202020204" pitchFamily="34" charset="0"/>
              <a:buChar char="•"/>
            </a:pPr>
            <a:r>
              <a:rPr lang="zh-CN" altLang="en-US" dirty="0">
                <a:solidFill>
                  <a:srgbClr val="4D4D4D"/>
                </a:solidFill>
                <a:latin typeface="-apple-system"/>
              </a:rPr>
              <a:t>赘婿</a:t>
            </a:r>
            <a:r>
              <a:rPr lang="en-US" altLang="zh-CN" dirty="0">
                <a:solidFill>
                  <a:srgbClr val="4D4D4D"/>
                </a:solidFill>
                <a:latin typeface="-apple-system"/>
              </a:rPr>
              <a:t>2.mp4</a:t>
            </a:r>
          </a:p>
          <a:p>
            <a:pPr marL="742950" lvl="1" indent="-285750">
              <a:buFont typeface="Arial" panose="020B0604020202020204" pitchFamily="34" charset="0"/>
              <a:buChar char="•"/>
            </a:pPr>
            <a:r>
              <a:rPr lang="zh-CN" altLang="en-US" dirty="0">
                <a:solidFill>
                  <a:srgbClr val="4D4D4D"/>
                </a:solidFill>
                <a:latin typeface="-apple-system"/>
              </a:rPr>
              <a:t>赘婿</a:t>
            </a:r>
            <a:r>
              <a:rPr lang="en-US" altLang="zh-CN" dirty="0">
                <a:solidFill>
                  <a:srgbClr val="4D4D4D"/>
                </a:solidFill>
                <a:latin typeface="-apple-system"/>
              </a:rPr>
              <a:t>3.mp4</a:t>
            </a:r>
          </a:p>
          <a:p>
            <a:pPr marL="742950" lvl="1" indent="-285750">
              <a:buFont typeface="Arial" panose="020B0604020202020204" pitchFamily="34" charset="0"/>
              <a:buChar char="•"/>
            </a:pPr>
            <a:r>
              <a:rPr lang="zh-CN" altLang="en-US" dirty="0">
                <a:solidFill>
                  <a:srgbClr val="4D4D4D"/>
                </a:solidFill>
                <a:latin typeface="-apple-system"/>
              </a:rPr>
              <a:t>赘婿</a:t>
            </a:r>
            <a:r>
              <a:rPr lang="en-US" altLang="zh-CN" dirty="0">
                <a:solidFill>
                  <a:srgbClr val="4D4D4D"/>
                </a:solidFill>
                <a:latin typeface="-apple-system"/>
              </a:rPr>
              <a:t>4.mp4</a:t>
            </a:r>
          </a:p>
          <a:p>
            <a:pPr>
              <a:buFont typeface="Arial" panose="020B0604020202020204" pitchFamily="34" charset="0"/>
              <a:buChar char="•"/>
            </a:pPr>
            <a:r>
              <a:rPr lang="zh-CN" altLang="en-US" dirty="0">
                <a:solidFill>
                  <a:srgbClr val="4D4D4D"/>
                </a:solidFill>
                <a:latin typeface="-apple-system"/>
              </a:rPr>
              <a:t>低并发编程的秘密</a:t>
            </a:r>
            <a:r>
              <a:rPr lang="en-US" altLang="zh-CN" dirty="0">
                <a:solidFill>
                  <a:srgbClr val="4D4D4D"/>
                </a:solidFill>
                <a:latin typeface="-apple-system"/>
              </a:rPr>
              <a:t>.pdf</a:t>
            </a:r>
            <a:endParaRPr lang="en-US" altLang="zh-CN" b="0" i="0" dirty="0">
              <a:solidFill>
                <a:srgbClr val="4D4D4D"/>
              </a:solidFill>
              <a:effectLst/>
              <a:latin typeface="-apple-system"/>
            </a:endParaRPr>
          </a:p>
        </p:txBody>
      </p:sp>
    </p:spTree>
    <p:extLst>
      <p:ext uri="{BB962C8B-B14F-4D97-AF65-F5344CB8AC3E}">
        <p14:creationId xmlns:p14="http://schemas.microsoft.com/office/powerpoint/2010/main" val="162942404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20</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499128" cy="369332"/>
          </a:xfrm>
          <a:prstGeom prst="rect">
            <a:avLst/>
          </a:prstGeom>
        </p:spPr>
        <p:txBody>
          <a:bodyPr wrap="none">
            <a:spAutoFit/>
          </a:bodyPr>
          <a:lstStyle/>
          <a:p>
            <a:r>
              <a:rPr lang="en-US" altLang="zh-CN" b="1" dirty="0" smtClean="0"/>
              <a:t>2.7 </a:t>
            </a:r>
            <a:r>
              <a:rPr lang="zh-CN" altLang="en-US" b="1" dirty="0" smtClean="0"/>
              <a:t>目录文件</a:t>
            </a:r>
            <a:endParaRPr lang="en-US" altLang="zh-CN" b="1" dirty="0"/>
          </a:p>
        </p:txBody>
      </p:sp>
      <p:sp>
        <p:nvSpPr>
          <p:cNvPr id="7" name="AutoShape 2" descr="https://imgconvert.csdnimg.cn/aHR0cHM6Ly9tbWJpei5xcGljLmNuL21tYml6X3BuZy9HTGVoNDJ1SW5YUlBwR2RiMXJMVk91VTlmZ011TGlhRGZVSE9nTEc5M1N1YVJLVlF4N0t3dndFTWtpYlhpYlVCaWFoazJ6UEdIeEpFbGx3OXlHSWlhRUhPWjd3LzY0MA?x-oss-process=image/format,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4" descr="https://imgconvert.csdnimg.cn/aHR0cHM6Ly9tbWJpei5xcGljLmNuL21tYml6X3BuZy9HTGVoNDJ1SW5YUlBwR2RiMXJMVk91VTlmZ011TGlhRGZVSE9nTEc5M1N1YVJLVlF4N0t3dndFTWtpYlhpYlVCaWFoazJ6UEdIeEpFbGx3OXlHSWlhRUhPWjd3LzY0MA?x-oss-process=image/format,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1" name="图片 10"/>
          <p:cNvPicPr>
            <a:picLocks noChangeAspect="1"/>
          </p:cNvPicPr>
          <p:nvPr/>
        </p:nvPicPr>
        <p:blipFill>
          <a:blip r:embed="rId3"/>
          <a:stretch>
            <a:fillRect/>
          </a:stretch>
        </p:blipFill>
        <p:spPr>
          <a:xfrm>
            <a:off x="1253275" y="1772816"/>
            <a:ext cx="4265736" cy="1509414"/>
          </a:xfrm>
          <a:prstGeom prst="rect">
            <a:avLst/>
          </a:prstGeom>
        </p:spPr>
      </p:pic>
      <p:pic>
        <p:nvPicPr>
          <p:cNvPr id="12" name="图片 11"/>
          <p:cNvPicPr>
            <a:picLocks noChangeAspect="1"/>
          </p:cNvPicPr>
          <p:nvPr/>
        </p:nvPicPr>
        <p:blipFill>
          <a:blip r:embed="rId4"/>
          <a:stretch>
            <a:fillRect/>
          </a:stretch>
        </p:blipFill>
        <p:spPr>
          <a:xfrm>
            <a:off x="612775" y="3370041"/>
            <a:ext cx="4924425" cy="1647825"/>
          </a:xfrm>
          <a:prstGeom prst="rect">
            <a:avLst/>
          </a:prstGeom>
        </p:spPr>
      </p:pic>
      <p:sp>
        <p:nvSpPr>
          <p:cNvPr id="13" name="矩形 12"/>
          <p:cNvSpPr/>
          <p:nvPr/>
        </p:nvSpPr>
        <p:spPr>
          <a:xfrm>
            <a:off x="335360" y="5036067"/>
            <a:ext cx="11209301" cy="1754326"/>
          </a:xfrm>
          <a:prstGeom prst="rect">
            <a:avLst/>
          </a:prstGeom>
        </p:spPr>
        <p:txBody>
          <a:bodyPr vert="horz" wrap="square">
            <a:spAutoFit/>
          </a:bodyPr>
          <a:lstStyle/>
          <a:p>
            <a:r>
              <a:rPr lang="en-US" altLang="zh-CN" dirty="0" smtClean="0"/>
              <a:t>1</a:t>
            </a:r>
            <a:r>
              <a:rPr lang="zh-CN" altLang="en-US" dirty="0" smtClean="0"/>
              <a:t>：</a:t>
            </a:r>
            <a:r>
              <a:rPr lang="zh-CN" altLang="en-US" dirty="0"/>
              <a:t>此时需要一个属性来区分这个文件是普通文件，还是目录文件</a:t>
            </a:r>
            <a:r>
              <a:rPr lang="zh-CN" altLang="en-US" dirty="0" smtClean="0"/>
              <a:t>。</a:t>
            </a:r>
            <a:endParaRPr lang="en-US" altLang="zh-CN" dirty="0" smtClean="0"/>
          </a:p>
          <a:p>
            <a:r>
              <a:rPr lang="en-US" altLang="zh-CN" dirty="0" smtClean="0"/>
              <a:t>2</a:t>
            </a:r>
            <a:r>
              <a:rPr lang="zh-CN" altLang="en-US" dirty="0" smtClean="0"/>
              <a:t>：</a:t>
            </a:r>
            <a:r>
              <a:rPr lang="zh-CN" altLang="en-US" dirty="0"/>
              <a:t>如果是</a:t>
            </a:r>
            <a:r>
              <a:rPr lang="zh-CN" altLang="en-US" b="1" dirty="0"/>
              <a:t>普通文件</a:t>
            </a:r>
            <a:r>
              <a:rPr lang="zh-CN" altLang="en-US" dirty="0"/>
              <a:t>，则这个 </a:t>
            </a:r>
            <a:r>
              <a:rPr lang="en-US" altLang="zh-CN" dirty="0" err="1"/>
              <a:t>inode</a:t>
            </a:r>
            <a:r>
              <a:rPr lang="en-US" altLang="zh-CN" dirty="0"/>
              <a:t> </a:t>
            </a:r>
            <a:r>
              <a:rPr lang="zh-CN" altLang="en-US" dirty="0" smtClean="0"/>
              <a:t>所指向的</a:t>
            </a:r>
            <a:r>
              <a:rPr lang="zh-CN" altLang="en-US" dirty="0"/>
              <a:t>数据</a:t>
            </a:r>
            <a:r>
              <a:rPr lang="zh-CN" altLang="en-US" dirty="0" smtClean="0"/>
              <a:t>块里面的内容就是文件本身</a:t>
            </a:r>
            <a:r>
              <a:rPr lang="zh-CN" altLang="en-US" dirty="0" smtClean="0"/>
              <a:t>。</a:t>
            </a:r>
            <a:endParaRPr lang="en-US" altLang="zh-CN" dirty="0" smtClean="0"/>
          </a:p>
          <a:p>
            <a:r>
              <a:rPr lang="en-US" altLang="zh-CN" dirty="0" smtClean="0"/>
              <a:t>3</a:t>
            </a:r>
            <a:r>
              <a:rPr lang="zh-CN" altLang="en-US" dirty="0" smtClean="0"/>
              <a:t>：</a:t>
            </a:r>
            <a:r>
              <a:rPr lang="zh-CN" altLang="en-US" dirty="0" smtClean="0"/>
              <a:t>如果</a:t>
            </a:r>
            <a:r>
              <a:rPr lang="zh-CN" altLang="en-US" dirty="0"/>
              <a:t>是</a:t>
            </a:r>
            <a:r>
              <a:rPr lang="zh-CN" altLang="en-US" b="1" dirty="0"/>
              <a:t>目录文件</a:t>
            </a:r>
            <a:r>
              <a:rPr lang="zh-CN" altLang="en-US" dirty="0"/>
              <a:t>，则</a:t>
            </a:r>
            <a:r>
              <a:rPr lang="zh-CN" altLang="en-US" dirty="0" smtClean="0"/>
              <a:t>这个</a:t>
            </a:r>
            <a:r>
              <a:rPr lang="en-US" altLang="zh-CN" dirty="0" err="1" smtClean="0"/>
              <a:t>inode</a:t>
            </a:r>
            <a:r>
              <a:rPr lang="en-US" altLang="zh-CN" dirty="0" smtClean="0"/>
              <a:t> </a:t>
            </a:r>
            <a:r>
              <a:rPr lang="zh-CN" altLang="en-US" dirty="0"/>
              <a:t>所指向的数据</a:t>
            </a:r>
            <a:r>
              <a:rPr lang="zh-CN" altLang="en-US" dirty="0" smtClean="0"/>
              <a:t>块内容就不一样了。初步规划，这个</a:t>
            </a:r>
            <a:r>
              <a:rPr lang="zh-CN" altLang="en-US" b="1" dirty="0"/>
              <a:t>目录</a:t>
            </a:r>
            <a:r>
              <a:rPr lang="zh-CN" altLang="en-US" b="1" dirty="0" smtClean="0"/>
              <a:t>文件</a:t>
            </a:r>
            <a:r>
              <a:rPr lang="zh-CN" altLang="en-US" dirty="0" smtClean="0"/>
              <a:t>里面的数据存储目录下</a:t>
            </a:r>
            <a:r>
              <a:rPr lang="zh-CN" altLang="en-US" b="1" dirty="0"/>
              <a:t>普通</a:t>
            </a:r>
            <a:r>
              <a:rPr lang="zh-CN" altLang="en-US" b="1" dirty="0" smtClean="0"/>
              <a:t>文件</a:t>
            </a:r>
            <a:r>
              <a:rPr lang="zh-CN" altLang="en-US" dirty="0"/>
              <a:t>的</a:t>
            </a:r>
            <a:r>
              <a:rPr lang="en-US" altLang="zh-CN" dirty="0" err="1" smtClean="0"/>
              <a:t>inode</a:t>
            </a:r>
            <a:r>
              <a:rPr lang="zh-CN" altLang="en-US" dirty="0" smtClean="0"/>
              <a:t>号</a:t>
            </a:r>
            <a:endParaRPr lang="en-US" altLang="zh-CN" dirty="0"/>
          </a:p>
          <a:p>
            <a:r>
              <a:rPr lang="en-US" altLang="zh-CN" dirty="0" smtClean="0"/>
              <a:t>3.</a:t>
            </a:r>
            <a:r>
              <a:rPr lang="zh-CN" altLang="en-US" dirty="0" smtClean="0"/>
              <a:t>查看文件名字</a:t>
            </a:r>
            <a:r>
              <a:rPr lang="zh-CN" altLang="en-US" dirty="0"/>
              <a:t>流程</a:t>
            </a:r>
            <a:r>
              <a:rPr lang="zh-CN" altLang="en-US" dirty="0" smtClean="0"/>
              <a:t>：</a:t>
            </a:r>
            <a:r>
              <a:rPr lang="en-US" altLang="zh-CN" dirty="0" smtClean="0"/>
              <a:t>1</a:t>
            </a:r>
            <a:r>
              <a:rPr lang="zh-CN" altLang="en-US" dirty="0" smtClean="0"/>
              <a:t>获取</a:t>
            </a:r>
            <a:r>
              <a:rPr lang="zh-CN" altLang="en-US" b="1" dirty="0" smtClean="0"/>
              <a:t>目录文件</a:t>
            </a:r>
            <a:r>
              <a:rPr lang="zh-CN" altLang="en-US" dirty="0" smtClean="0"/>
              <a:t>数据</a:t>
            </a:r>
            <a:r>
              <a:rPr lang="en-US" altLang="zh-CN" dirty="0" smtClean="0"/>
              <a:t>-&gt;2</a:t>
            </a:r>
            <a:r>
              <a:rPr lang="zh-CN" altLang="en-US" dirty="0" smtClean="0"/>
              <a:t>根据</a:t>
            </a:r>
            <a:r>
              <a:rPr lang="en-US" altLang="zh-CN" dirty="0" err="1" smtClean="0"/>
              <a:t>inode</a:t>
            </a:r>
            <a:r>
              <a:rPr lang="zh-CN" altLang="en-US" dirty="0" smtClean="0"/>
              <a:t>号获取</a:t>
            </a:r>
            <a:r>
              <a:rPr lang="en-US" altLang="zh-CN" dirty="0" err="1" smtClean="0"/>
              <a:t>inode</a:t>
            </a:r>
            <a:r>
              <a:rPr lang="zh-CN" altLang="en-US" dirty="0" smtClean="0"/>
              <a:t>表数据</a:t>
            </a:r>
            <a:r>
              <a:rPr lang="en-US" altLang="zh-CN" dirty="0" smtClean="0"/>
              <a:t>-&gt;3</a:t>
            </a:r>
            <a:r>
              <a:rPr lang="zh-CN" altLang="en-US" dirty="0" smtClean="0"/>
              <a:t>文件名字（</a:t>
            </a:r>
            <a:r>
              <a:rPr lang="en-US" altLang="zh-CN" dirty="0" err="1" smtClean="0"/>
              <a:t>inode</a:t>
            </a:r>
            <a:r>
              <a:rPr lang="zh-CN" altLang="en-US" dirty="0" smtClean="0"/>
              <a:t>号和</a:t>
            </a:r>
            <a:r>
              <a:rPr lang="en-US" altLang="zh-CN" dirty="0" err="1" smtClean="0"/>
              <a:t>inode</a:t>
            </a:r>
            <a:r>
              <a:rPr lang="zh-CN" altLang="en-US" dirty="0" smtClean="0"/>
              <a:t>里面的内容是两个不同的内容）</a:t>
            </a:r>
            <a:endParaRPr lang="en-US" altLang="zh-CN" dirty="0" smtClean="0"/>
          </a:p>
        </p:txBody>
      </p:sp>
      <p:pic>
        <p:nvPicPr>
          <p:cNvPr id="10" name="图片 9"/>
          <p:cNvPicPr>
            <a:picLocks noChangeAspect="1"/>
          </p:cNvPicPr>
          <p:nvPr/>
        </p:nvPicPr>
        <p:blipFill>
          <a:blip r:embed="rId5"/>
          <a:stretch>
            <a:fillRect/>
          </a:stretch>
        </p:blipFill>
        <p:spPr>
          <a:xfrm>
            <a:off x="5762534" y="1308490"/>
            <a:ext cx="5764468" cy="3296593"/>
          </a:xfrm>
          <a:prstGeom prst="rect">
            <a:avLst/>
          </a:prstGeom>
        </p:spPr>
      </p:pic>
    </p:spTree>
    <p:extLst>
      <p:ext uri="{BB962C8B-B14F-4D97-AF65-F5344CB8AC3E}">
        <p14:creationId xmlns:p14="http://schemas.microsoft.com/office/powerpoint/2010/main" val="65395587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21</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499128" cy="369332"/>
          </a:xfrm>
          <a:prstGeom prst="rect">
            <a:avLst/>
          </a:prstGeom>
        </p:spPr>
        <p:txBody>
          <a:bodyPr wrap="none">
            <a:spAutoFit/>
          </a:bodyPr>
          <a:lstStyle/>
          <a:p>
            <a:r>
              <a:rPr lang="en-US" altLang="zh-CN" b="1" dirty="0" smtClean="0"/>
              <a:t>2.7 </a:t>
            </a:r>
            <a:r>
              <a:rPr lang="zh-CN" altLang="en-US" b="1" dirty="0" smtClean="0"/>
              <a:t>目录文件</a:t>
            </a:r>
            <a:endParaRPr lang="en-US" altLang="zh-CN" b="1" dirty="0"/>
          </a:p>
        </p:txBody>
      </p:sp>
      <p:sp>
        <p:nvSpPr>
          <p:cNvPr id="7" name="矩形 6"/>
          <p:cNvSpPr/>
          <p:nvPr/>
        </p:nvSpPr>
        <p:spPr>
          <a:xfrm>
            <a:off x="712692" y="5229200"/>
            <a:ext cx="10279852" cy="923330"/>
          </a:xfrm>
          <a:prstGeom prst="rect">
            <a:avLst/>
          </a:prstGeom>
        </p:spPr>
        <p:txBody>
          <a:bodyPr vert="horz" wrap="square">
            <a:spAutoFit/>
          </a:bodyPr>
          <a:lstStyle/>
          <a:p>
            <a:pPr marL="342900" indent="-342900">
              <a:buAutoNum type="arabicPeriod"/>
            </a:pPr>
            <a:r>
              <a:rPr lang="zh-CN" altLang="en-US" dirty="0" smtClean="0"/>
              <a:t>还有更简单的方式目录文件直接保存普通文件的</a:t>
            </a:r>
            <a:r>
              <a:rPr lang="en-US" altLang="zh-CN" dirty="0" err="1" smtClean="0"/>
              <a:t>inode</a:t>
            </a:r>
            <a:r>
              <a:rPr lang="zh-CN" altLang="en-US" dirty="0"/>
              <a:t>、</a:t>
            </a:r>
            <a:r>
              <a:rPr lang="zh-CN" altLang="en-US" dirty="0" smtClean="0"/>
              <a:t>文件</a:t>
            </a:r>
            <a:r>
              <a:rPr lang="zh-CN" altLang="en-US" dirty="0" smtClean="0"/>
              <a:t>名字、及类型，</a:t>
            </a:r>
            <a:r>
              <a:rPr lang="zh-CN" altLang="en-US" dirty="0" smtClean="0"/>
              <a:t>而且文件名字是不确定的，放在</a:t>
            </a:r>
            <a:r>
              <a:rPr lang="en-US" altLang="zh-CN" dirty="0" smtClean="0"/>
              <a:t>128</a:t>
            </a:r>
            <a:r>
              <a:rPr lang="zh-CN" altLang="en-US" dirty="0" smtClean="0"/>
              <a:t>字节的固定空间里面也不合适</a:t>
            </a:r>
            <a:endParaRPr lang="en-US" altLang="zh-CN" dirty="0" smtClean="0"/>
          </a:p>
          <a:p>
            <a:pPr marL="342900" indent="-342900">
              <a:buFontTx/>
              <a:buAutoNum type="arabicPeriod"/>
            </a:pPr>
            <a:r>
              <a:rPr lang="zh-CN" altLang="en-US" dirty="0"/>
              <a:t>查看文件名字流程</a:t>
            </a:r>
            <a:r>
              <a:rPr lang="zh-CN" altLang="en-US" dirty="0" smtClean="0"/>
              <a:t>：</a:t>
            </a:r>
            <a:r>
              <a:rPr lang="en-US" altLang="zh-CN" dirty="0"/>
              <a:t> 1</a:t>
            </a:r>
            <a:r>
              <a:rPr lang="zh-CN" altLang="en-US" dirty="0"/>
              <a:t>获取</a:t>
            </a:r>
            <a:r>
              <a:rPr lang="zh-CN" altLang="en-US" b="1" dirty="0"/>
              <a:t>目录文件</a:t>
            </a:r>
            <a:r>
              <a:rPr lang="zh-CN" altLang="en-US" dirty="0"/>
              <a:t>数据</a:t>
            </a:r>
            <a:r>
              <a:rPr lang="en-US" altLang="zh-CN" dirty="0"/>
              <a:t>-&gt;</a:t>
            </a:r>
            <a:r>
              <a:rPr lang="en-US" altLang="zh-CN" dirty="0" smtClean="0"/>
              <a:t>2</a:t>
            </a:r>
            <a:r>
              <a:rPr lang="zh-CN" altLang="en-US" dirty="0" smtClean="0"/>
              <a:t>文件</a:t>
            </a:r>
            <a:r>
              <a:rPr lang="zh-CN" altLang="en-US" dirty="0"/>
              <a:t>名字</a:t>
            </a:r>
            <a:endParaRPr lang="en-US" altLang="zh-CN" dirty="0"/>
          </a:p>
        </p:txBody>
      </p:sp>
      <p:pic>
        <p:nvPicPr>
          <p:cNvPr id="6" name="图片 5"/>
          <p:cNvPicPr>
            <a:picLocks noChangeAspect="1"/>
          </p:cNvPicPr>
          <p:nvPr/>
        </p:nvPicPr>
        <p:blipFill>
          <a:blip r:embed="rId3"/>
          <a:stretch>
            <a:fillRect/>
          </a:stretch>
        </p:blipFill>
        <p:spPr>
          <a:xfrm>
            <a:off x="2938267" y="1446599"/>
            <a:ext cx="6134121" cy="3374718"/>
          </a:xfrm>
          <a:prstGeom prst="rect">
            <a:avLst/>
          </a:prstGeom>
        </p:spPr>
      </p:pic>
    </p:spTree>
    <p:extLst>
      <p:ext uri="{BB962C8B-B14F-4D97-AF65-F5344CB8AC3E}">
        <p14:creationId xmlns:p14="http://schemas.microsoft.com/office/powerpoint/2010/main" val="3665888507"/>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22</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731564" cy="369332"/>
          </a:xfrm>
          <a:prstGeom prst="rect">
            <a:avLst/>
          </a:prstGeom>
        </p:spPr>
        <p:txBody>
          <a:bodyPr wrap="none">
            <a:spAutoFit/>
          </a:bodyPr>
          <a:lstStyle/>
          <a:p>
            <a:r>
              <a:rPr lang="en-US" altLang="zh-CN" b="1" dirty="0" smtClean="0"/>
              <a:t>2.8 </a:t>
            </a:r>
            <a:r>
              <a:rPr lang="zh-CN" altLang="en-US" b="1" dirty="0" smtClean="0"/>
              <a:t>根目录文件</a:t>
            </a:r>
            <a:endParaRPr lang="en-US" altLang="zh-CN" b="1" dirty="0"/>
          </a:p>
        </p:txBody>
      </p:sp>
      <p:sp>
        <p:nvSpPr>
          <p:cNvPr id="7" name="矩形 6"/>
          <p:cNvSpPr/>
          <p:nvPr/>
        </p:nvSpPr>
        <p:spPr>
          <a:xfrm>
            <a:off x="839416" y="5619242"/>
            <a:ext cx="10729192" cy="646331"/>
          </a:xfrm>
          <a:prstGeom prst="rect">
            <a:avLst/>
          </a:prstGeom>
        </p:spPr>
        <p:txBody>
          <a:bodyPr vert="horz" wrap="square">
            <a:spAutoFit/>
          </a:bodyPr>
          <a:lstStyle/>
          <a:p>
            <a:r>
              <a:rPr lang="en-US" altLang="zh-CN" dirty="0" smtClean="0"/>
              <a:t>Linux</a:t>
            </a:r>
            <a:r>
              <a:rPr lang="zh-CN" altLang="en-US" dirty="0" smtClean="0"/>
              <a:t>的文件系统是像一棵大树一样，总是要从根部向上生长。文件系统也是从根目录开始，根目录文件对应的</a:t>
            </a:r>
            <a:r>
              <a:rPr lang="en-US" altLang="zh-CN" dirty="0" err="1" smtClean="0"/>
              <a:t>inode</a:t>
            </a:r>
            <a:r>
              <a:rPr lang="zh-CN" altLang="en-US" dirty="0" smtClean="0"/>
              <a:t>号是人为指定的，比如指定</a:t>
            </a:r>
            <a:r>
              <a:rPr lang="en-US" altLang="zh-CN" dirty="0" err="1" smtClean="0"/>
              <a:t>inode</a:t>
            </a:r>
            <a:r>
              <a:rPr lang="en-US" altLang="zh-CN" dirty="0" smtClean="0"/>
              <a:t>=0</a:t>
            </a:r>
            <a:r>
              <a:rPr lang="zh-CN" altLang="en-US" dirty="0" smtClean="0"/>
              <a:t>为根目录文件，（</a:t>
            </a:r>
            <a:r>
              <a:rPr lang="en-US" altLang="zh-CN" dirty="0" smtClean="0"/>
              <a:t>ext2</a:t>
            </a:r>
            <a:r>
              <a:rPr lang="zh-CN" altLang="en-US" dirty="0" smtClean="0"/>
              <a:t>文件系统的根目录是</a:t>
            </a:r>
            <a:r>
              <a:rPr lang="en-US" altLang="zh-CN" dirty="0" err="1" smtClean="0"/>
              <a:t>inode</a:t>
            </a:r>
            <a:r>
              <a:rPr lang="en-US" altLang="zh-CN" dirty="0" smtClean="0"/>
              <a:t>=2</a:t>
            </a:r>
            <a:r>
              <a:rPr lang="zh-CN" altLang="en-US" dirty="0" smtClean="0"/>
              <a:t>）</a:t>
            </a:r>
            <a:endParaRPr lang="en-US" altLang="zh-CN" dirty="0" smtClean="0"/>
          </a:p>
        </p:txBody>
      </p:sp>
      <p:pic>
        <p:nvPicPr>
          <p:cNvPr id="9" name="图片 8"/>
          <p:cNvPicPr>
            <a:picLocks noChangeAspect="1"/>
          </p:cNvPicPr>
          <p:nvPr/>
        </p:nvPicPr>
        <p:blipFill>
          <a:blip r:embed="rId3"/>
          <a:stretch>
            <a:fillRect/>
          </a:stretch>
        </p:blipFill>
        <p:spPr>
          <a:xfrm>
            <a:off x="3935760" y="1493223"/>
            <a:ext cx="4943872" cy="4126019"/>
          </a:xfrm>
          <a:prstGeom prst="rect">
            <a:avLst/>
          </a:prstGeom>
        </p:spPr>
      </p:pic>
    </p:spTree>
    <p:extLst>
      <p:ext uri="{BB962C8B-B14F-4D97-AF65-F5344CB8AC3E}">
        <p14:creationId xmlns:p14="http://schemas.microsoft.com/office/powerpoint/2010/main" val="204934391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23</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a:latin typeface="+mj-ea"/>
                <a:ea typeface="+mj-ea"/>
              </a:rPr>
              <a:t>2</a:t>
            </a:r>
            <a:r>
              <a:rPr lang="en-US" altLang="zh-CN" sz="2400" dirty="0" smtClean="0">
                <a:latin typeface="+mj-ea"/>
                <a:ea typeface="+mj-ea"/>
              </a:rPr>
              <a:t>. </a:t>
            </a:r>
            <a:r>
              <a:rPr lang="zh-CN" altLang="en-US" sz="2400" dirty="0" smtClean="0">
                <a:latin typeface="+mj-ea"/>
                <a:ea typeface="+mj-ea"/>
              </a:rPr>
              <a:t>文件系统的基本构成</a:t>
            </a:r>
            <a:endParaRPr lang="en-US" altLang="zh-CN" sz="2400" dirty="0">
              <a:latin typeface="+mj-ea"/>
              <a:ea typeface="+mj-ea"/>
            </a:endParaRPr>
          </a:p>
        </p:txBody>
      </p:sp>
      <p:sp>
        <p:nvSpPr>
          <p:cNvPr id="4" name="矩形 3"/>
          <p:cNvSpPr/>
          <p:nvPr/>
        </p:nvSpPr>
        <p:spPr>
          <a:xfrm>
            <a:off x="839416" y="1052736"/>
            <a:ext cx="1963999" cy="369332"/>
          </a:xfrm>
          <a:prstGeom prst="rect">
            <a:avLst/>
          </a:prstGeom>
        </p:spPr>
        <p:txBody>
          <a:bodyPr wrap="none">
            <a:spAutoFit/>
          </a:bodyPr>
          <a:lstStyle/>
          <a:p>
            <a:r>
              <a:rPr lang="en-US" altLang="zh-CN" b="1" dirty="0" smtClean="0"/>
              <a:t>2.9 </a:t>
            </a:r>
            <a:r>
              <a:rPr lang="zh-CN" altLang="en-US" b="1" dirty="0" smtClean="0"/>
              <a:t>查找文件流程</a:t>
            </a:r>
            <a:endParaRPr lang="en-US" altLang="zh-CN" b="1" dirty="0"/>
          </a:p>
        </p:txBody>
      </p:sp>
      <p:sp>
        <p:nvSpPr>
          <p:cNvPr id="7" name="矩形 6"/>
          <p:cNvSpPr/>
          <p:nvPr/>
        </p:nvSpPr>
        <p:spPr>
          <a:xfrm>
            <a:off x="983432" y="1422068"/>
            <a:ext cx="10729192" cy="5078313"/>
          </a:xfrm>
          <a:prstGeom prst="rect">
            <a:avLst/>
          </a:prstGeom>
        </p:spPr>
        <p:txBody>
          <a:bodyPr vert="horz" wrap="square">
            <a:spAutoFit/>
          </a:bodyPr>
          <a:lstStyle/>
          <a:p>
            <a:r>
              <a:rPr lang="zh-CN" altLang="en-US" dirty="0" smtClean="0"/>
              <a:t>举</a:t>
            </a:r>
            <a:r>
              <a:rPr lang="zh-CN" altLang="en-US" dirty="0"/>
              <a:t>个例子：我们执行</a:t>
            </a:r>
            <a:r>
              <a:rPr lang="en-US" altLang="zh-CN" dirty="0"/>
              <a:t>cat /</a:t>
            </a:r>
            <a:r>
              <a:rPr lang="en-US" altLang="zh-CN" dirty="0" err="1"/>
              <a:t>tmp</a:t>
            </a:r>
            <a:r>
              <a:rPr lang="en-US" altLang="zh-CN" dirty="0"/>
              <a:t>/abc.txt </a:t>
            </a:r>
            <a:r>
              <a:rPr lang="zh-CN" altLang="en-US" dirty="0"/>
              <a:t>输出“</a:t>
            </a:r>
            <a:r>
              <a:rPr lang="en-US" altLang="zh-CN" dirty="0" err="1"/>
              <a:t>abcdefg</a:t>
            </a:r>
            <a:r>
              <a:rPr lang="en-US" altLang="zh-CN" dirty="0"/>
              <a:t>”</a:t>
            </a:r>
            <a:r>
              <a:rPr lang="zh-CN" altLang="en-US" dirty="0"/>
              <a:t>字符串，文件访问顺序如下所示</a:t>
            </a:r>
          </a:p>
          <a:p>
            <a:pPr marL="342900" indent="-342900">
              <a:buAutoNum type="arabicPeriod"/>
            </a:pPr>
            <a:r>
              <a:rPr lang="zh-CN" altLang="en-US" dirty="0" smtClean="0"/>
              <a:t>首先</a:t>
            </a:r>
            <a:r>
              <a:rPr lang="zh-CN" altLang="en-US" dirty="0"/>
              <a:t>将绝对路径路径进行拆分 </a:t>
            </a:r>
            <a:r>
              <a:rPr lang="zh-CN" altLang="en-US" dirty="0" smtClean="0"/>
              <a:t>（</a:t>
            </a:r>
            <a:r>
              <a:rPr lang="en-US" altLang="zh-CN" dirty="0" smtClean="0"/>
              <a:t>/</a:t>
            </a:r>
            <a:r>
              <a:rPr lang="zh-CN" altLang="en-US" dirty="0" smtClean="0"/>
              <a:t>根目录）（ </a:t>
            </a:r>
            <a:r>
              <a:rPr lang="en-US" altLang="zh-CN" dirty="0" err="1" smtClean="0"/>
              <a:t>tmp</a:t>
            </a:r>
            <a:r>
              <a:rPr lang="zh-CN" altLang="en-US" dirty="0" smtClean="0"/>
              <a:t>目录文件） （</a:t>
            </a:r>
            <a:r>
              <a:rPr lang="en-US" altLang="zh-CN" dirty="0" smtClean="0"/>
              <a:t>abc.txt</a:t>
            </a:r>
            <a:r>
              <a:rPr lang="zh-CN" altLang="en-US" dirty="0"/>
              <a:t>普通</a:t>
            </a:r>
            <a:r>
              <a:rPr lang="zh-CN" altLang="en-US" dirty="0" smtClean="0"/>
              <a:t>文件）</a:t>
            </a:r>
            <a:endParaRPr lang="en-US" altLang="zh-CN" dirty="0" smtClean="0"/>
          </a:p>
          <a:p>
            <a:pPr marL="342900" indent="-342900">
              <a:buAutoNum type="arabicPeriod"/>
            </a:pPr>
            <a:endParaRPr lang="zh-CN" altLang="en-US" dirty="0"/>
          </a:p>
          <a:p>
            <a:r>
              <a:rPr lang="en-US" altLang="zh-CN" dirty="0"/>
              <a:t>2. </a:t>
            </a:r>
            <a:r>
              <a:rPr lang="zh-CN" altLang="en-US" dirty="0" smtClean="0"/>
              <a:t>根目录文件对应</a:t>
            </a:r>
            <a:r>
              <a:rPr lang="zh-CN" altLang="en-US" dirty="0"/>
              <a:t>的</a:t>
            </a:r>
            <a:r>
              <a:rPr lang="en-US" altLang="zh-CN" dirty="0" err="1" smtClean="0"/>
              <a:t>inode</a:t>
            </a:r>
            <a:r>
              <a:rPr lang="en-US" altLang="zh-CN" dirty="0" smtClean="0"/>
              <a:t>=2,</a:t>
            </a:r>
            <a:r>
              <a:rPr lang="zh-CN" altLang="en-US" dirty="0"/>
              <a:t>获取</a:t>
            </a:r>
            <a:r>
              <a:rPr lang="en-US" altLang="zh-CN" dirty="0" err="1" smtClean="0"/>
              <a:t>inode</a:t>
            </a:r>
            <a:r>
              <a:rPr lang="en-US" altLang="zh-CN" dirty="0" smtClean="0"/>
              <a:t>=2</a:t>
            </a:r>
            <a:r>
              <a:rPr lang="zh-CN" altLang="en-US" dirty="0" smtClean="0"/>
              <a:t>的</a:t>
            </a:r>
            <a:r>
              <a:rPr lang="zh-CN" altLang="en-US" dirty="0"/>
              <a:t>数据</a:t>
            </a:r>
            <a:r>
              <a:rPr lang="zh-CN" altLang="en-US" dirty="0" smtClean="0"/>
              <a:t>块得到</a:t>
            </a:r>
            <a:r>
              <a:rPr lang="en-US" altLang="zh-CN" dirty="0"/>
              <a:t>[</a:t>
            </a:r>
            <a:r>
              <a:rPr lang="zh-CN" altLang="en-US" dirty="0" smtClean="0"/>
              <a:t>文件名与</a:t>
            </a:r>
            <a:r>
              <a:rPr lang="en-US" altLang="zh-CN" dirty="0" err="1" smtClean="0"/>
              <a:t>inode</a:t>
            </a:r>
            <a:r>
              <a:rPr lang="zh-CN" altLang="en-US" dirty="0" smtClean="0"/>
              <a:t>对应表</a:t>
            </a:r>
            <a:r>
              <a:rPr lang="en-US" altLang="zh-CN" dirty="0" smtClean="0"/>
              <a:t>]</a:t>
            </a:r>
            <a:r>
              <a:rPr lang="zh-CN" altLang="en-US" dirty="0" smtClean="0"/>
              <a:t>如表</a:t>
            </a:r>
            <a:r>
              <a:rPr lang="en-US" altLang="zh-CN" dirty="0" smtClean="0"/>
              <a:t>1</a:t>
            </a:r>
            <a:r>
              <a:rPr lang="zh-CN" altLang="en-US" dirty="0" smtClean="0"/>
              <a:t>所示</a:t>
            </a:r>
            <a:endParaRPr lang="en-US" altLang="zh-CN" dirty="0" smtClean="0"/>
          </a:p>
          <a:p>
            <a:r>
              <a:rPr lang="en-US" altLang="zh-CN" dirty="0" smtClean="0"/>
              <a:t>		</a:t>
            </a:r>
            <a:r>
              <a:rPr lang="zh-CN" altLang="en-US" dirty="0" smtClean="0"/>
              <a:t>（表</a:t>
            </a:r>
            <a:r>
              <a:rPr lang="en-US" altLang="zh-CN" dirty="0" smtClean="0"/>
              <a:t>1</a:t>
            </a:r>
            <a:r>
              <a:rPr lang="zh-CN" altLang="en-US" dirty="0" smtClean="0"/>
              <a:t>）</a:t>
            </a:r>
            <a:r>
              <a:rPr lang="en-US" altLang="zh-CN" dirty="0" smtClean="0"/>
              <a:t>					</a:t>
            </a:r>
            <a:r>
              <a:rPr lang="zh-CN" altLang="en-US" dirty="0" smtClean="0"/>
              <a:t>（表</a:t>
            </a:r>
            <a:r>
              <a:rPr lang="en-US" altLang="zh-CN" dirty="0" smtClean="0"/>
              <a:t>2</a:t>
            </a:r>
            <a:r>
              <a:rPr lang="zh-CN" altLang="en-US" dirty="0" smtClean="0"/>
              <a:t>）</a:t>
            </a:r>
            <a:endParaRPr lang="en-US" altLang="zh-CN" dirty="0" smtClean="0"/>
          </a:p>
          <a:p>
            <a:endParaRPr lang="en-US" altLang="zh-CN" dirty="0" smtClean="0"/>
          </a:p>
          <a:p>
            <a:endParaRPr lang="en-US" altLang="zh-CN" dirty="0" smtClean="0"/>
          </a:p>
          <a:p>
            <a:r>
              <a:rPr lang="en-US" altLang="zh-CN" dirty="0" smtClean="0"/>
              <a:t>	 	</a:t>
            </a:r>
            <a:endParaRPr lang="en-US" altLang="zh-CN" dirty="0"/>
          </a:p>
          <a:p>
            <a:r>
              <a:rPr lang="en-US" altLang="zh-CN" dirty="0" smtClean="0"/>
              <a:t>	 	</a:t>
            </a:r>
            <a:endParaRPr lang="en-US" altLang="zh-CN" dirty="0"/>
          </a:p>
          <a:p>
            <a:r>
              <a:rPr lang="en-US" altLang="zh-CN" dirty="0" smtClean="0"/>
              <a:t>	 	</a:t>
            </a:r>
          </a:p>
          <a:p>
            <a:endParaRPr lang="en-US" altLang="zh-CN" dirty="0" smtClean="0"/>
          </a:p>
          <a:p>
            <a:endParaRPr lang="en-US" altLang="zh-CN" dirty="0"/>
          </a:p>
          <a:p>
            <a:r>
              <a:rPr lang="en-US" altLang="zh-CN" dirty="0" smtClean="0"/>
              <a:t>3</a:t>
            </a:r>
            <a:r>
              <a:rPr lang="en-US" altLang="zh-CN" dirty="0"/>
              <a:t>. </a:t>
            </a:r>
            <a:r>
              <a:rPr lang="zh-CN" altLang="en-US" dirty="0"/>
              <a:t>根据文件名，得到</a:t>
            </a:r>
            <a:r>
              <a:rPr lang="en-US" altLang="zh-CN" dirty="0" err="1"/>
              <a:t>tmp</a:t>
            </a:r>
            <a:r>
              <a:rPr lang="zh-CN" altLang="en-US" dirty="0"/>
              <a:t>对应的</a:t>
            </a:r>
            <a:r>
              <a:rPr lang="en-US" altLang="zh-CN" dirty="0" err="1" smtClean="0"/>
              <a:t>inode</a:t>
            </a:r>
            <a:r>
              <a:rPr lang="en-US" altLang="zh-CN" dirty="0" smtClean="0"/>
              <a:t>=20,</a:t>
            </a:r>
            <a:r>
              <a:rPr lang="zh-CN" altLang="en-US" dirty="0"/>
              <a:t>获取</a:t>
            </a:r>
            <a:r>
              <a:rPr lang="en-US" altLang="zh-CN" dirty="0" err="1" smtClean="0"/>
              <a:t>inode</a:t>
            </a:r>
            <a:r>
              <a:rPr lang="en-US" altLang="zh-CN" dirty="0" smtClean="0"/>
              <a:t>=20</a:t>
            </a:r>
            <a:r>
              <a:rPr lang="zh-CN" altLang="en-US" dirty="0" smtClean="0"/>
              <a:t>的</a:t>
            </a:r>
            <a:r>
              <a:rPr lang="zh-CN" altLang="en-US" dirty="0"/>
              <a:t>数据</a:t>
            </a:r>
            <a:r>
              <a:rPr lang="zh-CN" altLang="en-US" dirty="0" smtClean="0"/>
              <a:t>块得到</a:t>
            </a:r>
            <a:r>
              <a:rPr lang="en-US" altLang="zh-CN" dirty="0" smtClean="0"/>
              <a:t>[</a:t>
            </a:r>
            <a:r>
              <a:rPr lang="zh-CN" altLang="en-US" dirty="0" smtClean="0"/>
              <a:t>文件名</a:t>
            </a:r>
            <a:r>
              <a:rPr lang="zh-CN" altLang="en-US" dirty="0" smtClean="0"/>
              <a:t>与</a:t>
            </a:r>
            <a:r>
              <a:rPr lang="en-US" altLang="zh-CN" dirty="0" err="1" smtClean="0"/>
              <a:t>inode</a:t>
            </a:r>
            <a:r>
              <a:rPr lang="zh-CN" altLang="en-US" dirty="0" smtClean="0"/>
              <a:t>对应表</a:t>
            </a:r>
            <a:r>
              <a:rPr lang="en-US" altLang="zh-CN" dirty="0" smtClean="0"/>
              <a:t>]</a:t>
            </a:r>
            <a:r>
              <a:rPr lang="zh-CN" altLang="en-US" dirty="0" smtClean="0"/>
              <a:t>如表</a:t>
            </a:r>
            <a:r>
              <a:rPr lang="en-US" altLang="zh-CN" dirty="0" smtClean="0"/>
              <a:t>2</a:t>
            </a:r>
            <a:r>
              <a:rPr lang="zh-CN" altLang="en-US" dirty="0" smtClean="0"/>
              <a:t>所示</a:t>
            </a:r>
            <a:endParaRPr lang="en-US" altLang="zh-CN" dirty="0" smtClean="0"/>
          </a:p>
          <a:p>
            <a:endParaRPr lang="en-US" altLang="zh-CN" dirty="0" smtClean="0"/>
          </a:p>
          <a:p>
            <a:r>
              <a:rPr lang="en-US" altLang="zh-CN" dirty="0" smtClean="0"/>
              <a:t>4</a:t>
            </a:r>
            <a:r>
              <a:rPr lang="en-US" altLang="zh-CN" dirty="0"/>
              <a:t>. </a:t>
            </a:r>
            <a:r>
              <a:rPr lang="zh-CN" altLang="en-US" dirty="0"/>
              <a:t>根据文件名，得到</a:t>
            </a:r>
            <a:r>
              <a:rPr lang="en-US" altLang="zh-CN" dirty="0"/>
              <a:t>abc.txt</a:t>
            </a:r>
            <a:r>
              <a:rPr lang="zh-CN" altLang="en-US" dirty="0"/>
              <a:t>对应的</a:t>
            </a:r>
            <a:r>
              <a:rPr lang="en-US" altLang="zh-CN" dirty="0" err="1" smtClean="0"/>
              <a:t>inode</a:t>
            </a:r>
            <a:r>
              <a:rPr lang="en-US" altLang="zh-CN" dirty="0" smtClean="0"/>
              <a:t>=8899,</a:t>
            </a:r>
            <a:r>
              <a:rPr lang="zh-CN" altLang="en-US" dirty="0"/>
              <a:t>获取</a:t>
            </a:r>
            <a:r>
              <a:rPr lang="en-US" altLang="zh-CN" dirty="0" err="1" smtClean="0"/>
              <a:t>inode</a:t>
            </a:r>
            <a:r>
              <a:rPr lang="en-US" altLang="zh-CN" dirty="0" smtClean="0"/>
              <a:t>=8899</a:t>
            </a:r>
            <a:r>
              <a:rPr lang="zh-CN" altLang="en-US" dirty="0"/>
              <a:t>指向的数据块中得到对应的</a:t>
            </a:r>
            <a:r>
              <a:rPr lang="zh-CN" altLang="en-US" dirty="0" smtClean="0"/>
              <a:t>数据</a:t>
            </a:r>
            <a:r>
              <a:rPr lang="en-US" altLang="zh-CN" dirty="0" smtClean="0"/>
              <a:t>“</a:t>
            </a:r>
            <a:r>
              <a:rPr lang="en-US" altLang="zh-CN" dirty="0" err="1"/>
              <a:t>abcdefg</a:t>
            </a:r>
            <a:r>
              <a:rPr lang="en-US" altLang="zh-CN" dirty="0" smtClean="0"/>
              <a:t>”</a:t>
            </a:r>
          </a:p>
          <a:p>
            <a:r>
              <a:rPr lang="en-US" altLang="zh-CN" dirty="0"/>
              <a:t/>
            </a:r>
            <a:br>
              <a:rPr lang="en-US" altLang="zh-CN" dirty="0"/>
            </a:br>
            <a:r>
              <a:rPr lang="en-US" altLang="zh-CN" dirty="0" smtClean="0"/>
              <a:t>5.</a:t>
            </a:r>
            <a:r>
              <a:rPr lang="zh-CN" altLang="en-US" dirty="0" smtClean="0"/>
              <a:t>为了</a:t>
            </a:r>
            <a:r>
              <a:rPr lang="zh-CN" altLang="en-US" dirty="0"/>
              <a:t>防止同一目录下文件太多造成寻找文件时遍历文件太耗时间，目前</a:t>
            </a:r>
            <a:r>
              <a:rPr lang="en-US" altLang="zh-CN" dirty="0"/>
              <a:t>Linux ext3</a:t>
            </a:r>
            <a:r>
              <a:rPr lang="zh-CN" altLang="en-US" dirty="0"/>
              <a:t>文件系统引入哈希数目录，通过</a:t>
            </a:r>
            <a:r>
              <a:rPr lang="en-US" altLang="zh-CN" dirty="0"/>
              <a:t>hash</a:t>
            </a:r>
            <a:r>
              <a:rPr lang="zh-CN" altLang="en-US" dirty="0"/>
              <a:t>表查询降低了磁盘的操作次数，提高了文件系统的访问速度。</a:t>
            </a:r>
          </a:p>
        </p:txBody>
      </p:sp>
      <p:graphicFrame>
        <p:nvGraphicFramePr>
          <p:cNvPr id="5" name="表格 4"/>
          <p:cNvGraphicFramePr>
            <a:graphicFrameLocks noGrp="1"/>
          </p:cNvGraphicFramePr>
          <p:nvPr>
            <p:extLst>
              <p:ext uri="{D42A27DB-BD31-4B8C-83A1-F6EECF244321}">
                <p14:modId xmlns:p14="http://schemas.microsoft.com/office/powerpoint/2010/main" val="4104511861"/>
              </p:ext>
            </p:extLst>
          </p:nvPr>
        </p:nvGraphicFramePr>
        <p:xfrm>
          <a:off x="1559496" y="3068960"/>
          <a:ext cx="3541078" cy="1463040"/>
        </p:xfrm>
        <a:graphic>
          <a:graphicData uri="http://schemas.openxmlformats.org/drawingml/2006/table">
            <a:tbl>
              <a:tblPr firstRow="1" bandRow="1">
                <a:tableStyleId>{5C22544A-7EE6-4342-B048-85BDC9FD1C3A}</a:tableStyleId>
              </a:tblPr>
              <a:tblGrid>
                <a:gridCol w="1770539">
                  <a:extLst>
                    <a:ext uri="{9D8B030D-6E8A-4147-A177-3AD203B41FA5}">
                      <a16:colId xmlns:a16="http://schemas.microsoft.com/office/drawing/2014/main" val="3113670896"/>
                    </a:ext>
                  </a:extLst>
                </a:gridCol>
                <a:gridCol w="1770539">
                  <a:extLst>
                    <a:ext uri="{9D8B030D-6E8A-4147-A177-3AD203B41FA5}">
                      <a16:colId xmlns:a16="http://schemas.microsoft.com/office/drawing/2014/main" val="1683583315"/>
                    </a:ext>
                  </a:extLst>
                </a:gridCol>
              </a:tblGrid>
              <a:tr h="252028">
                <a:tc>
                  <a:txBody>
                    <a:bodyPr/>
                    <a:lstStyle/>
                    <a:p>
                      <a:pPr algn="ctr"/>
                      <a:r>
                        <a:rPr lang="zh-CN" altLang="en-US" dirty="0" smtClean="0"/>
                        <a:t>文件名</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err="1" smtClean="0"/>
                        <a:t>inode</a:t>
                      </a:r>
                      <a:r>
                        <a:rPr lang="zh-CN" altLang="en-US" dirty="0" smtClean="0"/>
                        <a:t>号</a:t>
                      </a:r>
                    </a:p>
                  </a:txBody>
                  <a:tcPr/>
                </a:tc>
                <a:extLst>
                  <a:ext uri="{0D108BD9-81ED-4DB2-BD59-A6C34878D82A}">
                    <a16:rowId xmlns:a16="http://schemas.microsoft.com/office/drawing/2014/main" val="623300962"/>
                  </a:ext>
                </a:extLst>
              </a:tr>
              <a:tr h="252028">
                <a:tc>
                  <a:txBody>
                    <a:bodyPr/>
                    <a:lstStyle/>
                    <a:p>
                      <a:pPr algn="ctr"/>
                      <a:r>
                        <a:rPr lang="en-US" altLang="zh-CN" dirty="0" smtClean="0"/>
                        <a:t>bin</a:t>
                      </a:r>
                      <a:endParaRPr lang="zh-CN" altLang="en-US" dirty="0"/>
                    </a:p>
                  </a:txBody>
                  <a:tcPr/>
                </a:tc>
                <a:tc>
                  <a:txBody>
                    <a:bodyPr/>
                    <a:lstStyle/>
                    <a:p>
                      <a:pPr algn="ctr"/>
                      <a:r>
                        <a:rPr lang="en-US" altLang="zh-CN" dirty="0" smtClean="0"/>
                        <a:t>18</a:t>
                      </a:r>
                      <a:endParaRPr lang="zh-CN" altLang="en-US" dirty="0"/>
                    </a:p>
                  </a:txBody>
                  <a:tcPr/>
                </a:tc>
                <a:extLst>
                  <a:ext uri="{0D108BD9-81ED-4DB2-BD59-A6C34878D82A}">
                    <a16:rowId xmlns:a16="http://schemas.microsoft.com/office/drawing/2014/main" val="1816205165"/>
                  </a:ext>
                </a:extLst>
              </a:tr>
              <a:tr h="252028">
                <a:tc>
                  <a:txBody>
                    <a:bodyPr/>
                    <a:lstStyle/>
                    <a:p>
                      <a:pPr algn="ctr"/>
                      <a:r>
                        <a:rPr lang="en-US" altLang="zh-CN" dirty="0" err="1" smtClean="0"/>
                        <a:t>var</a:t>
                      </a:r>
                      <a:endParaRPr lang="zh-CN" altLang="en-US" dirty="0"/>
                    </a:p>
                  </a:txBody>
                  <a:tcPr/>
                </a:tc>
                <a:tc>
                  <a:txBody>
                    <a:bodyPr/>
                    <a:lstStyle/>
                    <a:p>
                      <a:pPr algn="ctr"/>
                      <a:r>
                        <a:rPr lang="en-US" altLang="zh-CN" dirty="0" smtClean="0"/>
                        <a:t>19</a:t>
                      </a:r>
                      <a:endParaRPr lang="zh-CN" altLang="en-US" dirty="0"/>
                    </a:p>
                  </a:txBody>
                  <a:tcPr/>
                </a:tc>
                <a:extLst>
                  <a:ext uri="{0D108BD9-81ED-4DB2-BD59-A6C34878D82A}">
                    <a16:rowId xmlns:a16="http://schemas.microsoft.com/office/drawing/2014/main" val="2869575094"/>
                  </a:ext>
                </a:extLst>
              </a:tr>
              <a:tr h="252028">
                <a:tc>
                  <a:txBody>
                    <a:bodyPr/>
                    <a:lstStyle/>
                    <a:p>
                      <a:pPr algn="ctr"/>
                      <a:r>
                        <a:rPr lang="en-US" altLang="zh-CN" dirty="0" err="1" smtClean="0"/>
                        <a:t>tmp</a:t>
                      </a:r>
                      <a:endParaRPr lang="zh-CN" altLang="en-US" dirty="0"/>
                    </a:p>
                  </a:txBody>
                  <a:tcPr/>
                </a:tc>
                <a:tc>
                  <a:txBody>
                    <a:bodyPr/>
                    <a:lstStyle/>
                    <a:p>
                      <a:pPr algn="ctr"/>
                      <a:r>
                        <a:rPr lang="en-US" altLang="zh-CN" dirty="0" smtClean="0"/>
                        <a:t>20</a:t>
                      </a:r>
                      <a:endParaRPr lang="zh-CN" altLang="en-US" dirty="0"/>
                    </a:p>
                  </a:txBody>
                  <a:tcPr/>
                </a:tc>
                <a:extLst>
                  <a:ext uri="{0D108BD9-81ED-4DB2-BD59-A6C34878D82A}">
                    <a16:rowId xmlns:a16="http://schemas.microsoft.com/office/drawing/2014/main" val="1911089200"/>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455250323"/>
              </p:ext>
            </p:extLst>
          </p:nvPr>
        </p:nvGraphicFramePr>
        <p:xfrm>
          <a:off x="6348028" y="3068960"/>
          <a:ext cx="3199904" cy="1463040"/>
        </p:xfrm>
        <a:graphic>
          <a:graphicData uri="http://schemas.openxmlformats.org/drawingml/2006/table">
            <a:tbl>
              <a:tblPr firstRow="1" bandRow="1">
                <a:tableStyleId>{5C22544A-7EE6-4342-B048-85BDC9FD1C3A}</a:tableStyleId>
              </a:tblPr>
              <a:tblGrid>
                <a:gridCol w="1599952">
                  <a:extLst>
                    <a:ext uri="{9D8B030D-6E8A-4147-A177-3AD203B41FA5}">
                      <a16:colId xmlns:a16="http://schemas.microsoft.com/office/drawing/2014/main" val="3511552528"/>
                    </a:ext>
                  </a:extLst>
                </a:gridCol>
                <a:gridCol w="1599952">
                  <a:extLst>
                    <a:ext uri="{9D8B030D-6E8A-4147-A177-3AD203B41FA5}">
                      <a16:colId xmlns:a16="http://schemas.microsoft.com/office/drawing/2014/main" val="4084341834"/>
                    </a:ext>
                  </a:extLst>
                </a:gridCol>
              </a:tblGrid>
              <a:tr h="333487">
                <a:tc>
                  <a:txBody>
                    <a:bodyPr/>
                    <a:lstStyle/>
                    <a:p>
                      <a:pPr algn="ctr"/>
                      <a:r>
                        <a:rPr lang="zh-CN" altLang="en-US" dirty="0" smtClean="0"/>
                        <a:t>文件名</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err="1" smtClean="0"/>
                        <a:t>inode</a:t>
                      </a:r>
                      <a:r>
                        <a:rPr lang="zh-CN" altLang="en-US" dirty="0" smtClean="0"/>
                        <a:t>号</a:t>
                      </a:r>
                    </a:p>
                  </a:txBody>
                  <a:tcPr/>
                </a:tc>
                <a:extLst>
                  <a:ext uri="{0D108BD9-81ED-4DB2-BD59-A6C34878D82A}">
                    <a16:rowId xmlns:a16="http://schemas.microsoft.com/office/drawing/2014/main" val="1851464879"/>
                  </a:ext>
                </a:extLst>
              </a:tr>
              <a:tr h="333487">
                <a:tc>
                  <a:txBody>
                    <a:bodyPr/>
                    <a:lstStyle/>
                    <a:p>
                      <a:pPr algn="ctr"/>
                      <a:r>
                        <a:rPr lang="en-US" altLang="zh-CN" dirty="0" smtClean="0"/>
                        <a:t>abc.txt</a:t>
                      </a:r>
                      <a:endParaRPr lang="zh-CN" altLang="en-US" dirty="0"/>
                    </a:p>
                  </a:txBody>
                  <a:tcPr/>
                </a:tc>
                <a:tc>
                  <a:txBody>
                    <a:bodyPr/>
                    <a:lstStyle/>
                    <a:p>
                      <a:pPr algn="ctr"/>
                      <a:r>
                        <a:rPr lang="en-US" altLang="zh-CN" dirty="0" smtClean="0"/>
                        <a:t>8899</a:t>
                      </a:r>
                      <a:endParaRPr lang="en-US" altLang="zh-CN" dirty="0"/>
                    </a:p>
                  </a:txBody>
                  <a:tcPr/>
                </a:tc>
                <a:extLst>
                  <a:ext uri="{0D108BD9-81ED-4DB2-BD59-A6C34878D82A}">
                    <a16:rowId xmlns:a16="http://schemas.microsoft.com/office/drawing/2014/main" val="707024072"/>
                  </a:ext>
                </a:extLst>
              </a:tr>
              <a:tr h="333487">
                <a:tc>
                  <a:txBody>
                    <a:bodyPr/>
                    <a:lstStyle/>
                    <a:p>
                      <a:pPr algn="ctr"/>
                      <a:r>
                        <a:rPr lang="en-US" altLang="zh-CN" dirty="0" smtClean="0"/>
                        <a:t>bbb.mp3</a:t>
                      </a:r>
                      <a:endParaRPr lang="zh-CN" altLang="en-US" dirty="0"/>
                    </a:p>
                  </a:txBody>
                  <a:tcPr/>
                </a:tc>
                <a:tc>
                  <a:txBody>
                    <a:bodyPr/>
                    <a:lstStyle/>
                    <a:p>
                      <a:pPr algn="ctr"/>
                      <a:r>
                        <a:rPr lang="en-US" altLang="zh-CN" dirty="0" smtClean="0"/>
                        <a:t>10088</a:t>
                      </a:r>
                      <a:endParaRPr lang="en-US" altLang="zh-CN" dirty="0"/>
                    </a:p>
                  </a:txBody>
                  <a:tcPr/>
                </a:tc>
                <a:extLst>
                  <a:ext uri="{0D108BD9-81ED-4DB2-BD59-A6C34878D82A}">
                    <a16:rowId xmlns:a16="http://schemas.microsoft.com/office/drawing/2014/main" val="2803988647"/>
                  </a:ext>
                </a:extLst>
              </a:tr>
              <a:tr h="333487">
                <a:tc>
                  <a:txBody>
                    <a:bodyPr/>
                    <a:lstStyle/>
                    <a:p>
                      <a:pPr algn="ctr"/>
                      <a:r>
                        <a:rPr lang="en-US" altLang="zh-CN" dirty="0" smtClean="0"/>
                        <a:t>kkk.jpg</a:t>
                      </a:r>
                      <a:endParaRPr lang="zh-CN" altLang="en-US" dirty="0"/>
                    </a:p>
                  </a:txBody>
                  <a:tcPr/>
                </a:tc>
                <a:tc>
                  <a:txBody>
                    <a:bodyPr/>
                    <a:lstStyle/>
                    <a:p>
                      <a:pPr algn="ctr"/>
                      <a:r>
                        <a:rPr lang="en-US" altLang="zh-CN" dirty="0" smtClean="0"/>
                        <a:t>20000</a:t>
                      </a:r>
                      <a:endParaRPr lang="en-US" altLang="zh-CN" dirty="0"/>
                    </a:p>
                  </a:txBody>
                  <a:tcPr/>
                </a:tc>
                <a:extLst>
                  <a:ext uri="{0D108BD9-81ED-4DB2-BD59-A6C34878D82A}">
                    <a16:rowId xmlns:a16="http://schemas.microsoft.com/office/drawing/2014/main" val="2478036013"/>
                  </a:ext>
                </a:extLst>
              </a:tr>
            </a:tbl>
          </a:graphicData>
        </a:graphic>
      </p:graphicFrame>
    </p:spTree>
    <p:extLst>
      <p:ext uri="{BB962C8B-B14F-4D97-AF65-F5344CB8AC3E}">
        <p14:creationId xmlns:p14="http://schemas.microsoft.com/office/powerpoint/2010/main" val="120294004"/>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a:extLst>
              <a:ext uri="{FF2B5EF4-FFF2-40B4-BE49-F238E27FC236}">
                <a16:creationId xmlns:a16="http://schemas.microsoft.com/office/drawing/2014/main" id="{630BB524-A2F5-9E9C-9442-75D8EB6A8585}"/>
              </a:ext>
            </a:extLst>
          </p:cNvPr>
          <p:cNvSpPr txBox="1"/>
          <p:nvPr/>
        </p:nvSpPr>
        <p:spPr>
          <a:xfrm>
            <a:off x="8544272" y="3297843"/>
            <a:ext cx="612668" cy="461665"/>
          </a:xfrm>
          <a:prstGeom prst="rect">
            <a:avLst/>
          </a:prstGeom>
          <a:noFill/>
        </p:spPr>
        <p:txBody>
          <a:bodyPr wrap="none" rtlCol="0">
            <a:spAutoFit/>
          </a:bodyPr>
          <a:lstStyle/>
          <a:p>
            <a:r>
              <a:rPr lang="en-US" altLang="zh-CN" sz="2400" b="1"/>
              <a:t>02.</a:t>
            </a:r>
            <a:endParaRPr lang="zh-CN" altLang="en-US" sz="2400" b="1"/>
          </a:p>
        </p:txBody>
      </p:sp>
      <p:sp>
        <p:nvSpPr>
          <p:cNvPr id="28" name="文本占位符 2">
            <a:extLst>
              <a:ext uri="{FF2B5EF4-FFF2-40B4-BE49-F238E27FC236}">
                <a16:creationId xmlns:a16="http://schemas.microsoft.com/office/drawing/2014/main" id="{C19A3F84-5B14-3C07-3F24-E4F163FA38D9}"/>
              </a:ext>
            </a:extLst>
          </p:cNvPr>
          <p:cNvSpPr txBox="1">
            <a:spLocks/>
          </p:cNvSpPr>
          <p:nvPr/>
        </p:nvSpPr>
        <p:spPr>
          <a:xfrm>
            <a:off x="307105" y="321896"/>
            <a:ext cx="2777442" cy="766762"/>
          </a:xfrm>
          <a:prstGeom prst="rect">
            <a:avLst/>
          </a:prstGeom>
        </p:spPr>
        <p:txBody>
          <a:bodyPr/>
          <a:lstStyle>
            <a:lvl1pPr marL="342900" indent="-342900" algn="l" rtl="0" eaLnBrk="0" fontAlgn="base" hangingPunct="0">
              <a:lnSpc>
                <a:spcPct val="120000"/>
              </a:lnSpc>
              <a:spcBef>
                <a:spcPct val="20000"/>
              </a:spcBef>
              <a:spcAft>
                <a:spcPct val="0"/>
              </a:spcAft>
              <a:buClr>
                <a:srgbClr val="FF0000"/>
              </a:buClr>
              <a:buFont typeface="Wingdings" panose="05000000000000000000" pitchFamily="2" charset="2"/>
              <a:buChar char="n"/>
              <a:defRPr sz="26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
                <a:srgbClr val="FF0000"/>
              </a:buClr>
              <a:buFont typeface="Wingdings" panose="05000000000000000000" pitchFamily="2" charset="2"/>
              <a:buChar char="p"/>
              <a:defRPr sz="2200">
                <a:solidFill>
                  <a:schemeClr val="tx1"/>
                </a:solidFill>
                <a:latin typeface="+mn-lt"/>
                <a:ea typeface="+mn-ea"/>
              </a:defRPr>
            </a:lvl2pPr>
            <a:lvl3pPr marL="1143000" indent="-228600" algn="l" rtl="0" eaLnBrk="0" fontAlgn="base" hangingPunct="0">
              <a:lnSpc>
                <a:spcPct val="120000"/>
              </a:lnSpc>
              <a:spcBef>
                <a:spcPct val="20000"/>
              </a:spcBef>
              <a:spcAft>
                <a:spcPct val="0"/>
              </a:spcAft>
              <a:buClr>
                <a:srgbClr val="FF0000"/>
              </a:buClr>
              <a:buFont typeface="Wingdings" panose="05000000000000000000" pitchFamily="2" charset="2"/>
              <a:buChar char="Ø"/>
              <a:defRPr>
                <a:solidFill>
                  <a:schemeClr val="tx1"/>
                </a:solidFill>
                <a:latin typeface="+mn-lt"/>
                <a:ea typeface="+mn-ea"/>
              </a:defRPr>
            </a:lvl3pPr>
            <a:lvl4pPr marL="1600200" indent="-228600" algn="l" rtl="0" eaLnBrk="0" fontAlgn="base" hangingPunct="0">
              <a:lnSpc>
                <a:spcPct val="120000"/>
              </a:lnSpc>
              <a:spcBef>
                <a:spcPct val="20000"/>
              </a:spcBef>
              <a:spcAft>
                <a:spcPct val="0"/>
              </a:spcAft>
              <a:buClr>
                <a:srgbClr val="FF0000"/>
              </a:buClr>
              <a:buFont typeface="Wingdings" panose="05000000000000000000" pitchFamily="2" charset="2"/>
              <a:buChar char="§"/>
              <a:defRPr sz="1600">
                <a:solidFill>
                  <a:schemeClr val="tx1"/>
                </a:solidFill>
                <a:latin typeface="+mn-lt"/>
                <a:ea typeface="+mn-ea"/>
              </a:defRPr>
            </a:lvl4pPr>
            <a:lvl5pPr marL="2057400" indent="-228600" algn="l" rtl="0" eaLnBrk="0" fontAlgn="base" hangingPunct="0">
              <a:lnSpc>
                <a:spcPct val="120000"/>
              </a:lnSpc>
              <a:spcBef>
                <a:spcPct val="20000"/>
              </a:spcBef>
              <a:spcAft>
                <a:spcPct val="0"/>
              </a:spcAft>
              <a:buClr>
                <a:srgbClr val="FF0000"/>
              </a:buClr>
              <a:buFont typeface="Arial" panose="020B0604020202020204" pitchFamily="34" charset="0"/>
              <a:buChar char="-"/>
              <a:defRPr sz="1400">
                <a:solidFill>
                  <a:schemeClr val="tx1"/>
                </a:solidFill>
                <a:latin typeface="+mn-lt"/>
                <a:ea typeface="+mn-ea"/>
              </a:defRPr>
            </a:lvl5pPr>
            <a:lvl6pPr marL="25146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6pPr>
            <a:lvl7pPr marL="29718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7pPr>
            <a:lvl8pPr marL="34290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8pPr>
            <a:lvl9pPr marL="3886200" indent="-228600" algn="l" rtl="0" fontAlgn="base">
              <a:lnSpc>
                <a:spcPct val="120000"/>
              </a:lnSpc>
              <a:spcBef>
                <a:spcPct val="20000"/>
              </a:spcBef>
              <a:spcAft>
                <a:spcPct val="0"/>
              </a:spcAft>
              <a:buClr>
                <a:srgbClr val="FF0000"/>
              </a:buClr>
              <a:buFont typeface="Arial" charset="0"/>
              <a:buChar char="-"/>
              <a:defRPr sz="1400">
                <a:solidFill>
                  <a:schemeClr val="tx1"/>
                </a:solidFill>
                <a:latin typeface="+mn-lt"/>
                <a:ea typeface="+mn-ea"/>
              </a:defRPr>
            </a:lvl9pPr>
          </a:lstStyle>
          <a:p>
            <a:pPr marL="0" indent="0">
              <a:buNone/>
            </a:pPr>
            <a:r>
              <a:rPr lang="en-US" altLang="zh-CN" kern="0"/>
              <a:t>CONTENTS</a:t>
            </a:r>
            <a:endParaRPr lang="zh-CN" altLang="en-US" kern="0"/>
          </a:p>
        </p:txBody>
      </p:sp>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24</a:t>
            </a:fld>
            <a:endParaRPr lang="en-US" altLang="zh-CN"/>
          </a:p>
        </p:txBody>
      </p:sp>
      <p:grpSp>
        <p:nvGrpSpPr>
          <p:cNvPr id="23" name="组合 22"/>
          <p:cNvGrpSpPr/>
          <p:nvPr/>
        </p:nvGrpSpPr>
        <p:grpSpPr>
          <a:xfrm>
            <a:off x="369589" y="1070962"/>
            <a:ext cx="4542604" cy="4953321"/>
            <a:chOff x="0" y="1"/>
            <a:chExt cx="5199364" cy="6981487"/>
          </a:xfrm>
        </p:grpSpPr>
        <p:sp>
          <p:nvSpPr>
            <p:cNvPr id="40" name="TextBox 109"/>
            <p:cNvSpPr txBox="1">
              <a:spLocks noChangeArrowheads="1"/>
            </p:cNvSpPr>
            <p:nvPr/>
          </p:nvSpPr>
          <p:spPr bwMode="auto">
            <a:xfrm>
              <a:off x="4987925" y="1906587"/>
              <a:ext cx="211439" cy="8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
          <p:nvSpPr>
            <p:cNvPr id="41" name="Freeform 5"/>
            <p:cNvSpPr>
              <a:spLocks/>
            </p:cNvSpPr>
            <p:nvPr/>
          </p:nvSpPr>
          <p:spPr bwMode="auto">
            <a:xfrm>
              <a:off x="0" y="1"/>
              <a:ext cx="4262438" cy="6872288"/>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2" name="Freeform 6"/>
            <p:cNvSpPr>
              <a:spLocks/>
            </p:cNvSpPr>
            <p:nvPr/>
          </p:nvSpPr>
          <p:spPr bwMode="auto">
            <a:xfrm>
              <a:off x="3394076" y="1"/>
              <a:ext cx="1116013" cy="6872288"/>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rgbClr val="0098A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3" name="矩形 42"/>
            <p:cNvSpPr>
              <a:spLocks noChangeArrowheads="1"/>
            </p:cNvSpPr>
            <p:nvPr/>
          </p:nvSpPr>
          <p:spPr bwMode="auto">
            <a:xfrm>
              <a:off x="2641601" y="5938839"/>
              <a:ext cx="1733550" cy="782637"/>
            </a:xfrm>
            <a:prstGeom prst="rect">
              <a:avLst/>
            </a:prstGeom>
            <a:solidFill>
              <a:srgbClr val="0098A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44" name="TextBox 98"/>
            <p:cNvSpPr txBox="1">
              <a:spLocks noChangeArrowheads="1"/>
            </p:cNvSpPr>
            <p:nvPr/>
          </p:nvSpPr>
          <p:spPr bwMode="auto">
            <a:xfrm>
              <a:off x="2801939" y="5978524"/>
              <a:ext cx="846192" cy="62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zh-CN" altLang="en-US" sz="2160">
                  <a:solidFill>
                    <a:srgbClr val="FFFFFF"/>
                  </a:solidFill>
                  <a:latin typeface="微软雅黑" panose="020B0503020204020204" pitchFamily="34" charset="-122"/>
                  <a:ea typeface="微软雅黑" panose="020B0503020204020204" pitchFamily="34" charset="-122"/>
                </a:rPr>
                <a:t>大纲</a:t>
              </a:r>
            </a:p>
          </p:txBody>
        </p:sp>
        <p:sp>
          <p:nvSpPr>
            <p:cNvPr id="45" name="TextBox 104"/>
            <p:cNvSpPr txBox="1">
              <a:spLocks noChangeArrowheads="1"/>
            </p:cNvSpPr>
            <p:nvPr/>
          </p:nvSpPr>
          <p:spPr bwMode="auto">
            <a:xfrm>
              <a:off x="2855914" y="6361112"/>
              <a:ext cx="1573785" cy="62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2160" dirty="0">
                  <a:solidFill>
                    <a:srgbClr val="FFFFFF"/>
                  </a:solidFill>
                  <a:latin typeface="微软雅黑" panose="020B0503020204020204" pitchFamily="34" charset="-122"/>
                  <a:ea typeface="微软雅黑" panose="020B0503020204020204" pitchFamily="34" charset="-122"/>
                </a:rPr>
                <a:t>Contents</a:t>
              </a:r>
              <a:endParaRPr lang="zh-CN" altLang="en-US" sz="2160" dirty="0">
                <a:solidFill>
                  <a:srgbClr val="FFFFFF"/>
                </a:solidFill>
                <a:latin typeface="微软雅黑" panose="020B0503020204020204" pitchFamily="34" charset="-122"/>
                <a:ea typeface="微软雅黑" panose="020B0503020204020204" pitchFamily="34" charset="-122"/>
              </a:endParaRPr>
            </a:p>
          </p:txBody>
        </p:sp>
      </p:grpSp>
      <p:sp>
        <p:nvSpPr>
          <p:cNvPr id="24" name="Freeform 11"/>
          <p:cNvSpPr>
            <a:spLocks/>
          </p:cNvSpPr>
          <p:nvPr/>
        </p:nvSpPr>
        <p:spPr bwMode="auto">
          <a:xfrm>
            <a:off x="4469275" y="3186741"/>
            <a:ext cx="779480" cy="77167"/>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5" name="Freeform 10"/>
          <p:cNvSpPr>
            <a:spLocks/>
          </p:cNvSpPr>
          <p:nvPr/>
        </p:nvSpPr>
        <p:spPr bwMode="auto">
          <a:xfrm>
            <a:off x="4309984" y="3253176"/>
            <a:ext cx="5847484" cy="480393"/>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6" name="Rectangle 12"/>
          <p:cNvSpPr>
            <a:spLocks noChangeArrowheads="1"/>
          </p:cNvSpPr>
          <p:nvPr/>
        </p:nvSpPr>
        <p:spPr bwMode="auto">
          <a:xfrm>
            <a:off x="4542100" y="3200038"/>
            <a:ext cx="629686" cy="505390"/>
          </a:xfrm>
          <a:prstGeom prst="rect">
            <a:avLst/>
          </a:prstGeom>
          <a:solidFill>
            <a:srgbClr val="0095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339">
              <a:defRPr/>
            </a:pPr>
            <a:endParaRPr lang="zh-CN" altLang="en-US" sz="2160" kern="0">
              <a:solidFill>
                <a:srgbClr val="006794"/>
              </a:solidFill>
            </a:endParaRPr>
          </a:p>
        </p:txBody>
      </p:sp>
      <p:sp>
        <p:nvSpPr>
          <p:cNvPr id="27" name="TextBox 115"/>
          <p:cNvSpPr txBox="1">
            <a:spLocks noChangeArrowheads="1"/>
          </p:cNvSpPr>
          <p:nvPr/>
        </p:nvSpPr>
        <p:spPr bwMode="auto">
          <a:xfrm>
            <a:off x="5350013" y="3291078"/>
            <a:ext cx="1418978"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920" b="1" dirty="0" smtClean="0">
                <a:solidFill>
                  <a:srgbClr val="3C3C3C"/>
                </a:solidFill>
                <a:latin typeface="微软雅黑" panose="020B0503020204020204" pitchFamily="34" charset="-122"/>
                <a:ea typeface="微软雅黑" panose="020B0503020204020204" pitchFamily="34" charset="-122"/>
              </a:rPr>
              <a:t>总结与展望</a:t>
            </a:r>
            <a:endParaRPr lang="zh-CN" altLang="en-US" sz="1920" b="1" dirty="0">
              <a:solidFill>
                <a:srgbClr val="3C3C3C"/>
              </a:solidFill>
              <a:latin typeface="微软雅黑" panose="020B0503020204020204" pitchFamily="34" charset="-122"/>
              <a:ea typeface="微软雅黑" panose="020B0503020204020204" pitchFamily="34" charset="-122"/>
            </a:endParaRPr>
          </a:p>
        </p:txBody>
      </p:sp>
      <p:sp>
        <p:nvSpPr>
          <p:cNvPr id="29" name="TextBox 116"/>
          <p:cNvSpPr txBox="1">
            <a:spLocks noChangeArrowheads="1"/>
          </p:cNvSpPr>
          <p:nvPr/>
        </p:nvSpPr>
        <p:spPr bwMode="auto">
          <a:xfrm>
            <a:off x="4638303" y="3180214"/>
            <a:ext cx="450764" cy="60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3361" b="1" dirty="0">
                <a:solidFill>
                  <a:srgbClr val="FFFFFF"/>
                </a:solidFill>
                <a:latin typeface="微软雅黑" panose="020B0503020204020204" pitchFamily="34" charset="-122"/>
                <a:ea typeface="微软雅黑" panose="020B0503020204020204" pitchFamily="34" charset="-122"/>
              </a:rPr>
              <a:t>3</a:t>
            </a:r>
            <a:endParaRPr lang="zh-CN" altLang="en-US" sz="3361" b="1"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89436630"/>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25</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smtClean="0">
                <a:latin typeface="+mj-ea"/>
                <a:ea typeface="+mj-ea"/>
              </a:rPr>
              <a:t>3.</a:t>
            </a:r>
            <a:r>
              <a:rPr lang="zh-CN" altLang="en-US" sz="2400" b="1" dirty="0">
                <a:solidFill>
                  <a:srgbClr val="3C3C3C"/>
                </a:solidFill>
                <a:latin typeface="微软雅黑" panose="020B0503020204020204" pitchFamily="34" charset="-122"/>
                <a:ea typeface="微软雅黑" panose="020B0503020204020204" pitchFamily="34" charset="-122"/>
              </a:rPr>
              <a:t>总结与</a:t>
            </a:r>
            <a:r>
              <a:rPr lang="zh-CN" altLang="en-US" sz="2400" b="1" dirty="0" smtClean="0">
                <a:solidFill>
                  <a:srgbClr val="3C3C3C"/>
                </a:solidFill>
                <a:latin typeface="微软雅黑" panose="020B0503020204020204" pitchFamily="34" charset="-122"/>
                <a:ea typeface="微软雅黑" panose="020B0503020204020204" pitchFamily="34" charset="-122"/>
              </a:rPr>
              <a:t>展望</a:t>
            </a:r>
            <a:endParaRPr lang="zh-CN" altLang="en-US" sz="2400" b="1" dirty="0">
              <a:solidFill>
                <a:srgbClr val="3C3C3C"/>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2063552" y="1422067"/>
            <a:ext cx="7560840" cy="4644885"/>
          </a:xfrm>
          <a:prstGeom prst="rect">
            <a:avLst/>
          </a:prstGeom>
        </p:spPr>
      </p:pic>
    </p:spTree>
    <p:extLst>
      <p:ext uri="{BB962C8B-B14F-4D97-AF65-F5344CB8AC3E}">
        <p14:creationId xmlns:p14="http://schemas.microsoft.com/office/powerpoint/2010/main" val="3301040998"/>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D4EDE88A-26C6-4D8E-B318-1FD492304EDD}" type="slidenum">
              <a:rPr lang="en-US" altLang="zh-CN" smtClean="0"/>
              <a:pPr>
                <a:defRPr/>
              </a:pPr>
              <a:t>26</a:t>
            </a:fld>
            <a:endParaRPr lang="en-US" altLang="zh-CN"/>
          </a:p>
        </p:txBody>
      </p:sp>
      <p:sp>
        <p:nvSpPr>
          <p:cNvPr id="3" name="文本框 2"/>
          <p:cNvSpPr txBox="1"/>
          <p:nvPr/>
        </p:nvSpPr>
        <p:spPr>
          <a:xfrm>
            <a:off x="335360" y="377333"/>
            <a:ext cx="5259674" cy="461665"/>
          </a:xfrm>
          <a:prstGeom prst="rect">
            <a:avLst/>
          </a:prstGeom>
          <a:noFill/>
        </p:spPr>
        <p:txBody>
          <a:bodyPr wrap="square" rtlCol="0">
            <a:spAutoFit/>
          </a:bodyPr>
          <a:lstStyle/>
          <a:p>
            <a:r>
              <a:rPr lang="en-US" altLang="zh-CN" sz="2400" dirty="0" smtClean="0">
                <a:latin typeface="+mj-ea"/>
                <a:ea typeface="+mj-ea"/>
              </a:rPr>
              <a:t>3.</a:t>
            </a:r>
            <a:r>
              <a:rPr lang="zh-CN" altLang="en-US" sz="2400" b="1" dirty="0">
                <a:solidFill>
                  <a:srgbClr val="3C3C3C"/>
                </a:solidFill>
                <a:latin typeface="微软雅黑" panose="020B0503020204020204" pitchFamily="34" charset="-122"/>
                <a:ea typeface="微软雅黑" panose="020B0503020204020204" pitchFamily="34" charset="-122"/>
              </a:rPr>
              <a:t>总结与</a:t>
            </a:r>
            <a:r>
              <a:rPr lang="zh-CN" altLang="en-US" sz="2400" b="1" dirty="0" smtClean="0">
                <a:solidFill>
                  <a:srgbClr val="3C3C3C"/>
                </a:solidFill>
                <a:latin typeface="微软雅黑" panose="020B0503020204020204" pitchFamily="34" charset="-122"/>
                <a:ea typeface="微软雅黑" panose="020B0503020204020204" pitchFamily="34" charset="-122"/>
              </a:rPr>
              <a:t>展望</a:t>
            </a:r>
            <a:endParaRPr lang="zh-CN" altLang="en-US" sz="2400" b="1" dirty="0">
              <a:solidFill>
                <a:srgbClr val="3C3C3C"/>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839416" y="1412777"/>
            <a:ext cx="9361040" cy="646331"/>
          </a:xfrm>
          <a:prstGeom prst="rect">
            <a:avLst/>
          </a:prstGeom>
          <a:noFill/>
        </p:spPr>
        <p:txBody>
          <a:bodyPr wrap="square" rtlCol="0">
            <a:spAutoFit/>
          </a:bodyPr>
          <a:lstStyle/>
          <a:p>
            <a:r>
              <a:rPr lang="en-US" altLang="zh-CN" dirty="0" smtClean="0"/>
              <a:t>1</a:t>
            </a:r>
            <a:r>
              <a:rPr lang="zh-CN" altLang="en-US" dirty="0" smtClean="0"/>
              <a:t>：从源码的角度分析分析创建文件、删除文件、修改文件这些操作</a:t>
            </a:r>
            <a:endParaRPr lang="en-US" altLang="zh-CN" dirty="0" smtClean="0"/>
          </a:p>
          <a:p>
            <a:r>
              <a:rPr lang="en-US" altLang="zh-CN" dirty="0" smtClean="0"/>
              <a:t>2</a:t>
            </a:r>
            <a:r>
              <a:rPr lang="zh-CN" altLang="en-US" dirty="0" smtClean="0"/>
              <a:t>：</a:t>
            </a:r>
            <a:r>
              <a:rPr lang="zh-CN" altLang="en-US" dirty="0" smtClean="0"/>
              <a:t>分析</a:t>
            </a:r>
            <a:r>
              <a:rPr lang="en-US" altLang="zh-CN" dirty="0" smtClean="0"/>
              <a:t>ext3~4</a:t>
            </a:r>
            <a:r>
              <a:rPr lang="zh-CN" altLang="en-US" dirty="0" smtClean="0"/>
              <a:t> </a:t>
            </a:r>
            <a:r>
              <a:rPr lang="zh-CN" altLang="en-US" dirty="0" smtClean="0"/>
              <a:t>日志文件</a:t>
            </a:r>
            <a:r>
              <a:rPr lang="zh-CN" altLang="en-US" dirty="0" smtClean="0"/>
              <a:t>系统</a:t>
            </a:r>
            <a:endParaRPr lang="en-US" altLang="zh-CN" dirty="0" smtClean="0"/>
          </a:p>
        </p:txBody>
      </p:sp>
    </p:spTree>
    <p:extLst>
      <p:ext uri="{BB962C8B-B14F-4D97-AF65-F5344CB8AC3E}">
        <p14:creationId xmlns:p14="http://schemas.microsoft.com/office/powerpoint/2010/main" val="1885139138"/>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Fotolia_33558981_Subscription_Monthly_XXL副本2副本.jpg"/>
          <p:cNvPicPr>
            <a:picLocks noChangeAspect="1"/>
          </p:cNvPicPr>
          <p:nvPr/>
        </p:nvPicPr>
        <p:blipFill>
          <a:blip r:embed="rId3" cstate="print"/>
          <a:stretch>
            <a:fillRect/>
          </a:stretch>
        </p:blipFill>
        <p:spPr>
          <a:xfrm>
            <a:off x="1524000" y="0"/>
            <a:ext cx="9144000" cy="6858000"/>
          </a:xfrm>
          <a:prstGeom prst="rect">
            <a:avLst/>
          </a:prstGeom>
        </p:spPr>
      </p:pic>
      <p:sp>
        <p:nvSpPr>
          <p:cNvPr id="22" name="矩形 21"/>
          <p:cNvSpPr/>
          <p:nvPr/>
        </p:nvSpPr>
        <p:spPr>
          <a:xfrm>
            <a:off x="6960097" y="2996953"/>
            <a:ext cx="2938625" cy="1015663"/>
          </a:xfrm>
          <a:prstGeom prst="rect">
            <a:avLst/>
          </a:prstGeom>
        </p:spPr>
        <p:txBody>
          <a:bodyPr wrap="none">
            <a:spAutoFit/>
          </a:bodyPr>
          <a:lstStyle/>
          <a:p>
            <a:r>
              <a:rPr lang="en-US" altLang="zh-CN" sz="6000" b="1">
                <a:solidFill>
                  <a:srgbClr val="FF0000"/>
                </a:solidFill>
                <a:latin typeface="Century Gothic" pitchFamily="34" charset="0"/>
                <a:ea typeface="微软雅黑" pitchFamily="34" charset="-122"/>
              </a:rPr>
              <a:t>Thanks!</a:t>
            </a:r>
            <a:endParaRPr lang="zh-CN" altLang="en-US" sz="6000">
              <a:solidFill>
                <a:srgbClr val="FF0000"/>
              </a:solidFill>
              <a:latin typeface="Century Gothic" pitchFamily="34" charset="0"/>
            </a:endParaRPr>
          </a:p>
        </p:txBody>
      </p:sp>
      <p:sp>
        <p:nvSpPr>
          <p:cNvPr id="25" name="矩形 24"/>
          <p:cNvSpPr/>
          <p:nvPr/>
        </p:nvSpPr>
        <p:spPr>
          <a:xfrm>
            <a:off x="8399465" y="6165853"/>
            <a:ext cx="1959191" cy="323165"/>
          </a:xfrm>
          <a:prstGeom prst="rect">
            <a:avLst/>
          </a:prstGeom>
        </p:spPr>
        <p:txBody>
          <a:bodyPr wrap="none">
            <a:spAutoFit/>
          </a:bodyPr>
          <a:lstStyle/>
          <a:p>
            <a:r>
              <a:rPr lang="en-US" altLang="zh-CN" sz="1500">
                <a:solidFill>
                  <a:srgbClr val="7F7F7F"/>
                </a:solidFill>
                <a:latin typeface="Century Gothic" pitchFamily="34" charset="0"/>
              </a:rPr>
              <a:t>www.hikvision.com</a:t>
            </a:r>
            <a:endParaRPr lang="zh-CN" altLang="en-US" sz="1500">
              <a:latin typeface="Century Gothic" pitchFamily="34" charset="0"/>
            </a:endParaRPr>
          </a:p>
        </p:txBody>
      </p:sp>
      <p:pic>
        <p:nvPicPr>
          <p:cNvPr id="8" name="图片 8" descr="Hikvision Logo.jpg"/>
          <p:cNvPicPr>
            <a:picLocks noChangeAspect="1"/>
          </p:cNvPicPr>
          <p:nvPr/>
        </p:nvPicPr>
        <p:blipFill>
          <a:blip r:embed="rId4" cstate="print">
            <a:clrChange>
              <a:clrFrom>
                <a:srgbClr val="FDFDFD"/>
              </a:clrFrom>
              <a:clrTo>
                <a:srgbClr val="FDFDFD">
                  <a:alpha val="0"/>
                </a:srgbClr>
              </a:clrTo>
            </a:clrChange>
          </a:blip>
          <a:srcRect/>
          <a:stretch>
            <a:fillRect/>
          </a:stretch>
        </p:blipFill>
        <p:spPr bwMode="auto">
          <a:xfrm>
            <a:off x="8472266" y="5949283"/>
            <a:ext cx="1800200" cy="233659"/>
          </a:xfrm>
          <a:prstGeom prst="rect">
            <a:avLst/>
          </a:prstGeom>
          <a:noFill/>
          <a:ln w="9525">
            <a:noFill/>
            <a:miter lim="800000"/>
            <a:headEnd/>
            <a:tailEnd/>
          </a:ln>
        </p:spPr>
      </p:pic>
      <p:sp>
        <p:nvSpPr>
          <p:cNvPr id="2" name="灯片编号占位符 1"/>
          <p:cNvSpPr>
            <a:spLocks noGrp="1"/>
          </p:cNvSpPr>
          <p:nvPr>
            <p:ph type="sldNum" sz="quarter" idx="10"/>
          </p:nvPr>
        </p:nvSpPr>
        <p:spPr/>
        <p:txBody>
          <a:bodyPr/>
          <a:lstStyle/>
          <a:p>
            <a:pPr>
              <a:defRPr/>
            </a:pPr>
            <a:fld id="{FCB0D5D1-EF19-40AF-8835-A7656014FD18}" type="slidenum">
              <a:rPr lang="en-US" altLang="zh-CN" smtClean="0"/>
              <a:pPr>
                <a:defRPr/>
              </a:pPr>
              <a:t>27</a:t>
            </a:fld>
            <a:endParaRPr lang="en-US" altLang="zh-CN"/>
          </a:p>
        </p:txBody>
      </p:sp>
    </p:spTree>
    <p:extLst>
      <p:ext uri="{BB962C8B-B14F-4D97-AF65-F5344CB8AC3E}">
        <p14:creationId xmlns:p14="http://schemas.microsoft.com/office/powerpoint/2010/main" val="4256721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04">
  <a:themeElements>
    <a:clrScheme name="0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4">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cie技术分享.pptx" id="{092CF8B0-C209-439D-9A44-7C6CD65A6F05}" vid="{CE83D52E-D9BD-4CBD-96F7-B748F0BBB451}"/>
    </a:ext>
  </a:extLst>
</a:theme>
</file>

<file path=ppt/theme/theme2.xml><?xml version="1.0" encoding="utf-8"?>
<a:theme xmlns:a="http://schemas.openxmlformats.org/drawingml/2006/main" name="1_04">
  <a:themeElements>
    <a:clrScheme name="0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4">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cie技术分享.pptx" id="{092CF8B0-C209-439D-9A44-7C6CD65A6F05}" vid="{F375CF77-8890-482B-9F43-0892A83FACE2}"/>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HIK</Template>
  <TotalTime>90548</TotalTime>
  <Words>1771</Words>
  <Application>Microsoft Office PowerPoint</Application>
  <PresentationFormat>宽屏</PresentationFormat>
  <Paragraphs>265</Paragraphs>
  <Slides>27</Slides>
  <Notes>27</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27</vt:i4>
      </vt:variant>
    </vt:vector>
  </HeadingPairs>
  <TitlesOfParts>
    <vt:vector size="40" baseType="lpstr">
      <vt:lpstr>-apple-system</vt:lpstr>
      <vt:lpstr>方正瘦金书_GBK</vt:lpstr>
      <vt:lpstr>黑体</vt:lpstr>
      <vt:lpstr>宋体</vt:lpstr>
      <vt:lpstr>微软雅黑</vt:lpstr>
      <vt:lpstr>Arial</vt:lpstr>
      <vt:lpstr>Century Gothic</vt:lpstr>
      <vt:lpstr>Georgia</vt:lpstr>
      <vt:lpstr>Times New Roman</vt:lpstr>
      <vt:lpstr>Verdana</vt:lpstr>
      <vt:lpstr>Wingdings</vt:lpstr>
      <vt:lpstr>04</vt:lpstr>
      <vt:lpstr>1_04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赵刚15</dc:creator>
  <cp:lastModifiedBy>何庆龙5</cp:lastModifiedBy>
  <cp:revision>990</cp:revision>
  <dcterms:created xsi:type="dcterms:W3CDTF">2023-05-08T01:37:26Z</dcterms:created>
  <dcterms:modified xsi:type="dcterms:W3CDTF">2024-05-13T11:12:50Z</dcterms:modified>
</cp:coreProperties>
</file>